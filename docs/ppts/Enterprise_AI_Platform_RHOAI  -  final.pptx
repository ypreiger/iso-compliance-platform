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7" r:id="rId3"/>
    <p:sldId id="258" r:id="rId4"/>
    <p:sldId id="259" r:id="rId5"/>
    <p:sldId id="264" r:id="rId6"/>
    <p:sldId id="266" r:id="rId7"/>
    <p:sldId id="261" r:id="rId8"/>
    <p:sldId id="262" r:id="rId9"/>
    <p:sldId id="263" r:id="rId10"/>
    <p:sldId id="265" r:id="rId11"/>
    <p:sldId id="257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58"/>
    <p:restoredTop sz="94658"/>
  </p:normalViewPr>
  <p:slideViewPr>
    <p:cSldViewPr snapToGrid="0" snapToObjects="1">
      <p:cViewPr varScale="1">
        <p:scale>
          <a:sx n="118" d="100"/>
          <a:sy n="118" d="100"/>
        </p:scale>
        <p:origin x="224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2E5FA9-43EC-F44A-A671-C9886CAB368B}" type="datetimeFigureOut">
              <a:rPr lang="en-IL" smtClean="0"/>
              <a:t>24/07/2026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ACB7D6-D530-BA4D-A841-146F925B2F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97851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iso-web-iso-platform.apps.ocp.7hrxw.sandbox880.opentlc.com/" TargetMode="External"/><Relationship Id="rId7" Type="http://schemas.openxmlformats.org/officeDocument/2006/relationships/hyperlink" Target="https://maas.apps.ocp.7hrxw.sandbox880.opentlc.com/" TargetMode="External"/><Relationship Id="rId2" Type="http://schemas.openxmlformats.org/officeDocument/2006/relationships/hyperlink" Target="https://playground-iso-platform.apps.ocp.7hrxw.sandbox880.opentlc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openshift-gitops-server-openshift-gitops.apps.ocp.7hrxw.sandbox880.opentlc.com/" TargetMode="External"/><Relationship Id="rId5" Type="http://schemas.openxmlformats.org/officeDocument/2006/relationships/hyperlink" Target="https://grafana-route-grafana.apps.ocp.7hrxw.sandbox880.opentlc.com/" TargetMode="External"/><Relationship Id="rId4" Type="http://schemas.openxmlformats.org/officeDocument/2006/relationships/hyperlink" Target="https://rhods-dashboard-redhat-ods-applications.apps.ocp.7hrxw.sandbox880.opentlc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46991" y="1331259"/>
            <a:ext cx="10694851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0000"/>
                </a:solidFill>
              </a:defRPr>
            </a:pPr>
            <a:r>
              <a:rPr dirty="0"/>
              <a:t>Enterprise-Grade AI</a:t>
            </a:r>
            <a:r>
              <a:rPr lang="en-US" dirty="0"/>
              <a:t> Agentic App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842946" y="2519979"/>
            <a:ext cx="650293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5C5C5C"/>
                </a:solidFill>
              </a:defRPr>
            </a:pPr>
            <a:r>
              <a:rPr lang="en-US" dirty="0"/>
              <a:t>On </a:t>
            </a:r>
            <a:r>
              <a:rPr dirty="0"/>
              <a:t>Red Hat OpenShift AI</a:t>
            </a:r>
            <a:r>
              <a:rPr lang="en-US" dirty="0"/>
              <a:t> Platform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168786" y="3617259"/>
            <a:ext cx="785125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C5C5C"/>
                </a:solidFill>
              </a:defRPr>
            </a:pPr>
            <a:r>
              <a:rPr dirty="0"/>
              <a:t>Model as a Service  · Guardrails  · RAG  ·  </a:t>
            </a:r>
            <a:r>
              <a:rPr dirty="0" err="1"/>
              <a:t>GitOps</a:t>
            </a:r>
            <a:r>
              <a:rPr dirty="0"/>
              <a:t>  ·  Enterprise </a:t>
            </a:r>
            <a:r>
              <a:rPr lang="en-US" dirty="0"/>
              <a:t>Architecture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A8DF7A-55F3-C00C-D110-59CB81493439}"/>
              </a:ext>
            </a:extLst>
          </p:cNvPr>
          <p:cNvSpPr txBox="1"/>
          <p:nvPr/>
        </p:nvSpPr>
        <p:spPr>
          <a:xfrm>
            <a:off x="3425174" y="4784266"/>
            <a:ext cx="5311582" cy="143116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C5C5C"/>
                </a:solidFill>
              </a:defRPr>
            </a:pPr>
            <a:r>
              <a:rPr lang="en-US" dirty="0"/>
              <a:t>AI Engineering course – class #7 - February 2026</a:t>
            </a:r>
          </a:p>
          <a:p>
            <a:pPr algn="ctr">
              <a:defRPr sz="2000">
                <a:solidFill>
                  <a:srgbClr val="5C5C5C"/>
                </a:solidFill>
              </a:defRPr>
            </a:pPr>
            <a:r>
              <a:rPr lang="en-IL" sz="2700" dirty="0"/>
              <a:t>The Hebrew University of Jerusalem</a:t>
            </a:r>
            <a:r>
              <a:rPr lang="en-US" sz="2700" dirty="0"/>
              <a:t> </a:t>
            </a:r>
          </a:p>
          <a:p>
            <a:pPr algn="ctr">
              <a:defRPr sz="2000">
                <a:solidFill>
                  <a:srgbClr val="5C5C5C"/>
                </a:solidFill>
              </a:defRPr>
            </a:pPr>
            <a:endParaRPr lang="en-US" dirty="0"/>
          </a:p>
          <a:p>
            <a:pPr algn="ctr">
              <a:defRPr sz="2000">
                <a:solidFill>
                  <a:srgbClr val="5C5C5C"/>
                </a:solidFill>
              </a:defRPr>
            </a:pPr>
            <a:r>
              <a:rPr lang="en-US" dirty="0"/>
              <a:t>By Yaakov Preiger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88952" cy="568939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30861" y="45720"/>
            <a:ext cx="64254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AI-Powered ISO Compliance Management</a:t>
            </a:r>
          </a:p>
        </p:txBody>
      </p:sp>
      <p:sp>
        <p:nvSpPr>
          <p:cNvPr id="4" name="Oval 3"/>
          <p:cNvSpPr/>
          <p:nvPr/>
        </p:nvSpPr>
        <p:spPr>
          <a:xfrm>
            <a:off x="2307770" y="1828800"/>
            <a:ext cx="548640" cy="548640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07770" y="18288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Upload ISO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C5C5C"/>
                </a:solidFill>
              </a:defRPr>
            </a:pPr>
            <a:r>
              <a:t>Upload ISO standard documents</a:t>
            </a:r>
          </a:p>
          <a:p>
            <a:r>
              <a:t>(ISO 9001, 14001, 45001, 13485)</a:t>
            </a:r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>
            <a:off x="3124199" y="2103120"/>
            <a:ext cx="2527663" cy="0"/>
          </a:xfrm>
          <a:prstGeom prst="line">
            <a:avLst/>
          </a:prstGeom>
          <a:ln w="3810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965370" y="1828800"/>
            <a:ext cx="548640" cy="54864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65370" y="18288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Populate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26080"/>
            <a:ext cx="329184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C5C5C"/>
                </a:solidFill>
              </a:defRPr>
            </a:pPr>
            <a:r>
              <a:rPr dirty="0"/>
              <a:t>AI extracts clauses</a:t>
            </a:r>
          </a:p>
          <a:p>
            <a:pPr algn="ctr"/>
            <a:r>
              <a:rPr dirty="0"/>
              <a:t>Generates semantic embeddings</a:t>
            </a:r>
          </a:p>
          <a:p>
            <a:pPr algn="ctr"/>
            <a:r>
              <a:rPr dirty="0"/>
              <a:t>Builds knowledge base</a:t>
            </a:r>
          </a:p>
        </p:txBody>
      </p:sp>
      <p:cxnSp>
        <p:nvCxnSpPr>
          <p:cNvPr id="13" name="Connector 12"/>
          <p:cNvCxnSpPr>
            <a:cxnSpLocks/>
          </p:cNvCxnSpPr>
          <p:nvPr/>
        </p:nvCxnSpPr>
        <p:spPr>
          <a:xfrm>
            <a:off x="6895443" y="2103120"/>
            <a:ext cx="2414016" cy="0"/>
          </a:xfrm>
          <a:prstGeom prst="line">
            <a:avLst/>
          </a:prstGeom>
          <a:ln w="3810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622970" y="1828800"/>
            <a:ext cx="548640" cy="54864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22970" y="18288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688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Assessment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9260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C5C5C"/>
                </a:solidFill>
              </a:defRPr>
            </a:pPr>
            <a:r>
              <a:t>Document audit findings</a:t>
            </a:r>
          </a:p>
          <a:p>
            <a:r>
              <a:t>during organization assessment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55538" y="4389120"/>
            <a:ext cx="6858000" cy="164592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>
            <a:cxnSpLocks/>
          </p:cNvCxnSpPr>
          <p:nvPr/>
        </p:nvCxnSpPr>
        <p:spPr>
          <a:xfrm>
            <a:off x="6187876" y="3799114"/>
            <a:ext cx="0" cy="590006"/>
          </a:xfrm>
          <a:prstGeom prst="line">
            <a:avLst/>
          </a:prstGeom>
          <a:ln w="3810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938418" y="45720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✓  AI-Generated Compliance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12738" y="502920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Automatic finding-to-clause mapping · Gap analysis · Corrective actions</a:t>
            </a:r>
          </a:p>
          <a:p>
            <a:r>
              <a:t>Hebrew/English bilingual · Export to DOCX/Excel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66974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199" y="45720"/>
            <a:ext cx="113102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Architecture</a:t>
            </a:r>
            <a:r>
              <a:rPr lang="en-US" dirty="0"/>
              <a:t> layers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1385047" y="1344706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67927" y="1436146"/>
            <a:ext cx="27432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Application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5447" y="1556577"/>
            <a:ext cx="4143635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dirty="0"/>
              <a:t>iso-web  ·  iso-</a:t>
            </a:r>
            <a:r>
              <a:rPr dirty="0" err="1"/>
              <a:t>api</a:t>
            </a:r>
            <a:r>
              <a:rPr dirty="0"/>
              <a:t>  ·  AI Playground</a:t>
            </a:r>
            <a:r>
              <a:rPr lang="en-IL" dirty="0"/>
              <a:t> · functioonal agents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1385047" y="2460170"/>
            <a:ext cx="9144000" cy="896215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67927" y="2350546"/>
            <a:ext cx="2743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Model as a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5447" y="2350546"/>
            <a:ext cx="5486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dirty="0"/>
              <a:t>GPT-oss-20b (21B </a:t>
            </a:r>
            <a:r>
              <a:rPr dirty="0" err="1"/>
              <a:t>MoE</a:t>
            </a:r>
            <a:r>
              <a:rPr dirty="0"/>
              <a:t>)  ·  BGE-M3 Embeddings  ·  Qwen3-4B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85047" y="4453666"/>
            <a:ext cx="9144000" cy="73152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67927" y="4545106"/>
            <a:ext cx="27432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Inference &amp; Serving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5447" y="4665537"/>
            <a:ext cx="2994859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dirty="0" err="1"/>
              <a:t>KServe</a:t>
            </a:r>
            <a:r>
              <a:rPr dirty="0"/>
              <a:t>  ·  </a:t>
            </a:r>
            <a:r>
              <a:rPr dirty="0" err="1"/>
              <a:t>vLLM</a:t>
            </a:r>
            <a:r>
              <a:rPr dirty="0"/>
              <a:t>  ·  </a:t>
            </a:r>
            <a:r>
              <a:rPr dirty="0" err="1"/>
              <a:t>LLMInferenceService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1385047" y="3539266"/>
            <a:ext cx="9144000" cy="73152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67927" y="3630706"/>
            <a:ext cx="27432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AI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5447" y="3630706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TrustyAI  ·  Guardrails Orchestrator  ·  Kuadrant + Authorino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85047" y="5459506"/>
            <a:ext cx="9144000" cy="731520"/>
          </a:xfrm>
          <a:prstGeom prst="rect">
            <a:avLst/>
          </a:prstGeom>
          <a:solidFill>
            <a:srgbClr val="5C5C5C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67927" y="5550946"/>
            <a:ext cx="27432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5447" y="5671377"/>
            <a:ext cx="4658648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dirty="0"/>
              <a:t>OpenShift 4.</a:t>
            </a:r>
            <a:r>
              <a:rPr lang="en-US" dirty="0"/>
              <a:t>20</a:t>
            </a:r>
            <a:r>
              <a:rPr dirty="0"/>
              <a:t>  ·  </a:t>
            </a:r>
            <a:r>
              <a:rPr lang="en-US" dirty="0"/>
              <a:t>OpenShift AI 3.5</a:t>
            </a:r>
            <a:r>
              <a:rPr dirty="0"/>
              <a:t>  ·  GPU Nodes (NVIDIA L40)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88825" cy="618565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95393" y="45720"/>
            <a:ext cx="609641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Infrastructure &amp; Resource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5029200" cy="411480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OpenShift Container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457200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600" dirty="0"/>
              <a:t>✓ Namespace Isolation (iso-platform, </a:t>
            </a:r>
            <a:r>
              <a:rPr sz="1600" dirty="0" err="1"/>
              <a:t>llm</a:t>
            </a:r>
            <a:r>
              <a:rPr sz="1600" dirty="0"/>
              <a:t>, </a:t>
            </a:r>
            <a:r>
              <a:rPr sz="1600" dirty="0" err="1"/>
              <a:t>grafana</a:t>
            </a:r>
            <a:r>
              <a:rPr sz="1600" dirty="0"/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600" dirty="0"/>
              <a:t>✓ RBAC &amp; </a:t>
            </a:r>
            <a:r>
              <a:rPr sz="1600" dirty="0" err="1"/>
              <a:t>ServiceAccounts</a:t>
            </a:r>
            <a:endParaRPr sz="1600" dirty="0"/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600" dirty="0"/>
              <a:t>✓ Routes (TLS edge termination)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600" dirty="0"/>
              <a:t>✓ GPU Node Scheduling (L40 48GB VRAM)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600" dirty="0"/>
              <a:t>✓ </a:t>
            </a:r>
            <a:r>
              <a:rPr sz="1600" dirty="0" err="1"/>
              <a:t>StatefulSets</a:t>
            </a:r>
            <a:r>
              <a:rPr sz="1600" dirty="0"/>
              <a:t> (PostgreSQL + </a:t>
            </a:r>
            <a:r>
              <a:rPr sz="1600" dirty="0" err="1"/>
              <a:t>pgvector</a:t>
            </a:r>
            <a:r>
              <a:rPr sz="1600" dirty="0"/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600" dirty="0"/>
              <a:t>✓ </a:t>
            </a:r>
            <a:r>
              <a:rPr sz="1600" dirty="0" err="1"/>
              <a:t>ConfigMaps</a:t>
            </a:r>
            <a:r>
              <a:rPr sz="1600" dirty="0"/>
              <a:t> &amp; Secrets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20116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E0000"/>
                </a:solidFill>
              </a:defRPr>
            </a:pPr>
            <a:r>
              <a:t>Red Hat OpenShift AI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743200"/>
            <a:ext cx="3818965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600" dirty="0"/>
              <a:t>✓ Model Serving (</a:t>
            </a:r>
            <a:r>
              <a:rPr sz="1600" dirty="0" err="1"/>
              <a:t>KServe</a:t>
            </a:r>
            <a:r>
              <a:rPr sz="1600" dirty="0"/>
              <a:t>, </a:t>
            </a:r>
            <a:r>
              <a:rPr sz="1600" dirty="0" err="1"/>
              <a:t>vLLM</a:t>
            </a:r>
            <a:r>
              <a:rPr sz="1600" dirty="0"/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600" dirty="0"/>
              <a:t>✓ </a:t>
            </a:r>
            <a:r>
              <a:rPr sz="1600" dirty="0" err="1"/>
              <a:t>MaaS</a:t>
            </a:r>
            <a:r>
              <a:rPr sz="1600" dirty="0"/>
              <a:t> Gateway (</a:t>
            </a:r>
            <a:r>
              <a:rPr sz="1600" dirty="0" err="1"/>
              <a:t>Kuadrant</a:t>
            </a:r>
            <a:r>
              <a:rPr sz="1600" dirty="0"/>
              <a:t> API </a:t>
            </a:r>
            <a:r>
              <a:rPr sz="1600" dirty="0" err="1"/>
              <a:t>mgmt</a:t>
            </a:r>
            <a:r>
              <a:rPr sz="1600" dirty="0"/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600" dirty="0"/>
              <a:t>✓ </a:t>
            </a:r>
            <a:r>
              <a:rPr sz="1600" dirty="0" err="1"/>
              <a:t>TrustyAI</a:t>
            </a:r>
            <a:r>
              <a:rPr sz="1600" dirty="0"/>
              <a:t> Service (Observability)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600" dirty="0"/>
              <a:t>✓ Ray Operator (Distributed ML)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600" dirty="0"/>
              <a:t>✓ </a:t>
            </a:r>
            <a:r>
              <a:rPr sz="1600" dirty="0" err="1"/>
              <a:t>MLflow</a:t>
            </a:r>
            <a:r>
              <a:rPr sz="1600" dirty="0"/>
              <a:t> (Experiment Tracking)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rPr sz="1600" dirty="0"/>
              <a:t>✓ Data Science Pipelines (</a:t>
            </a:r>
            <a:r>
              <a:rPr sz="1600" dirty="0" err="1"/>
              <a:t>Tekton</a:t>
            </a:r>
            <a:r>
              <a:rPr sz="1600" dirty="0"/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4008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65764" y="45720"/>
            <a:ext cx="31556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AI Application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35869" y="1058966"/>
            <a:ext cx="5390017" cy="731520"/>
          </a:xfrm>
          <a:prstGeom prst="rect">
            <a:avLst/>
          </a:prstGeom>
          <a:solidFill>
            <a:srgbClr val="C85050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35869" y="1240060"/>
            <a:ext cx="539001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React SPA · AI Playground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869" y="2146721"/>
            <a:ext cx="5390017" cy="731520"/>
          </a:xfrm>
          <a:prstGeom prst="rect">
            <a:avLst/>
          </a:prstGeom>
          <a:solidFill>
            <a:srgbClr val="50A064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5869" y="2327815"/>
            <a:ext cx="539001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 err="1"/>
              <a:t>FastAPI</a:t>
            </a:r>
            <a:r>
              <a:rPr dirty="0"/>
              <a:t> Orchestrator · Document </a:t>
            </a:r>
            <a:r>
              <a:rPr lang="en-US" dirty="0"/>
              <a:t>Agents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335869" y="4309114"/>
            <a:ext cx="5390017" cy="731520"/>
          </a:xfrm>
          <a:prstGeom prst="rect">
            <a:avLst/>
          </a:prstGeom>
          <a:solidFill>
            <a:srgbClr val="A050C8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5869" y="4490208"/>
            <a:ext cx="539001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LLM Models (GPT-oss-20b · BGE-M3 · Qwen3)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869" y="3234476"/>
            <a:ext cx="5390017" cy="731520"/>
          </a:xfrm>
          <a:prstGeom prst="rect">
            <a:avLst/>
          </a:prstGeom>
          <a:solidFill>
            <a:srgbClr val="3C78B4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5869" y="3415570"/>
            <a:ext cx="539001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PostgreSQL 16 + </a:t>
            </a:r>
            <a:r>
              <a:rPr dirty="0" err="1"/>
              <a:t>pgvector</a:t>
            </a:r>
            <a:r>
              <a:rPr dirty="0"/>
              <a:t> · Redis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869" y="5357539"/>
            <a:ext cx="5390017" cy="731520"/>
          </a:xfrm>
          <a:prstGeom prst="rect">
            <a:avLst/>
          </a:prstGeom>
          <a:solidFill>
            <a:srgbClr val="646464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5869" y="5538633"/>
            <a:ext cx="539001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OpenShift + RHOAI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3149F8-E052-25C7-414A-FAE1FD805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50497"/>
            <a:ext cx="5720178" cy="47574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CED90-8A52-21BA-A161-E578EF568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440AD3-21C9-32EA-4A4A-0738EEAD46EF}"/>
              </a:ext>
            </a:extLst>
          </p:cNvPr>
          <p:cNvSpPr/>
          <p:nvPr/>
        </p:nvSpPr>
        <p:spPr>
          <a:xfrm>
            <a:off x="0" y="-1"/>
            <a:ext cx="12188825" cy="618565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2499B8-0E0B-0535-9F72-01D2E9D8B6BB}"/>
              </a:ext>
            </a:extLst>
          </p:cNvPr>
          <p:cNvSpPr txBox="1"/>
          <p:nvPr/>
        </p:nvSpPr>
        <p:spPr>
          <a:xfrm>
            <a:off x="3154154" y="45720"/>
            <a:ext cx="55789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Enterprise </a:t>
            </a:r>
            <a:r>
              <a:rPr lang="en-US" dirty="0"/>
              <a:t>GenAI Inference platform</a:t>
            </a:r>
            <a:endParaRPr dirty="0"/>
          </a:p>
        </p:txBody>
      </p:sp>
      <p:sp>
        <p:nvSpPr>
          <p:cNvPr id="4" name="Google Shape;9644;p781">
            <a:extLst>
              <a:ext uri="{FF2B5EF4-FFF2-40B4-BE49-F238E27FC236}">
                <a16:creationId xmlns:a16="http://schemas.microsoft.com/office/drawing/2014/main" id="{A15A1FCD-DB22-0CDB-68D0-FA392C12B737}"/>
              </a:ext>
            </a:extLst>
          </p:cNvPr>
          <p:cNvSpPr/>
          <p:nvPr/>
        </p:nvSpPr>
        <p:spPr>
          <a:xfrm>
            <a:off x="792594" y="1270041"/>
            <a:ext cx="7998900" cy="389100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pSp>
        <p:nvGrpSpPr>
          <p:cNvPr id="5" name="Google Shape;9648;p781">
            <a:extLst>
              <a:ext uri="{FF2B5EF4-FFF2-40B4-BE49-F238E27FC236}">
                <a16:creationId xmlns:a16="http://schemas.microsoft.com/office/drawing/2014/main" id="{2CCFBA1A-1543-2299-8A98-FE44A1B4800B}"/>
              </a:ext>
            </a:extLst>
          </p:cNvPr>
          <p:cNvGrpSpPr/>
          <p:nvPr/>
        </p:nvGrpSpPr>
        <p:grpSpPr>
          <a:xfrm>
            <a:off x="6249859" y="1637843"/>
            <a:ext cx="1226932" cy="617640"/>
            <a:chOff x="2923075" y="1827749"/>
            <a:chExt cx="920222" cy="463242"/>
          </a:xfrm>
        </p:grpSpPr>
        <p:sp>
          <p:nvSpPr>
            <p:cNvPr id="6" name="Google Shape;9649;p781">
              <a:extLst>
                <a:ext uri="{FF2B5EF4-FFF2-40B4-BE49-F238E27FC236}">
                  <a16:creationId xmlns:a16="http://schemas.microsoft.com/office/drawing/2014/main" id="{8029A096-0EB2-5EDF-2618-BDFB60B4D65A}"/>
                </a:ext>
              </a:extLst>
            </p:cNvPr>
            <p:cNvSpPr/>
            <p:nvPr/>
          </p:nvSpPr>
          <p:spPr>
            <a:xfrm>
              <a:off x="2923075" y="1927091"/>
              <a:ext cx="816600" cy="363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>
              <a:outerShdw blurRad="76200" dist="2540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pic>
          <p:nvPicPr>
            <p:cNvPr id="7" name="Google Shape;9650;p781">
              <a:extLst>
                <a:ext uri="{FF2B5EF4-FFF2-40B4-BE49-F238E27FC236}">
                  <a16:creationId xmlns:a16="http://schemas.microsoft.com/office/drawing/2014/main" id="{FFD83305-36FA-ACFF-198F-78531E1DEB0E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3044521" y="2021331"/>
              <a:ext cx="573618" cy="175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9651;p781">
              <a:extLst>
                <a:ext uri="{FF2B5EF4-FFF2-40B4-BE49-F238E27FC236}">
                  <a16:creationId xmlns:a16="http://schemas.microsoft.com/office/drawing/2014/main" id="{B54A4EEB-5882-EEC9-9FCF-AFA71AD44CFE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18149" y="1827749"/>
              <a:ext cx="225148" cy="21892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" name="Google Shape;9652;p781">
            <a:extLst>
              <a:ext uri="{FF2B5EF4-FFF2-40B4-BE49-F238E27FC236}">
                <a16:creationId xmlns:a16="http://schemas.microsoft.com/office/drawing/2014/main" id="{C1083607-C908-B384-1573-F43B4AAD33CF}"/>
              </a:ext>
            </a:extLst>
          </p:cNvPr>
          <p:cNvCxnSpPr>
            <a:stCxn id="6" idx="2"/>
            <a:endCxn id="23" idx="0"/>
          </p:cNvCxnSpPr>
          <p:nvPr/>
        </p:nvCxnSpPr>
        <p:spPr>
          <a:xfrm rot="5400000">
            <a:off x="5889295" y="1808333"/>
            <a:ext cx="457800" cy="1352100"/>
          </a:xfrm>
          <a:prstGeom prst="bentConnector3">
            <a:avLst>
              <a:gd name="adj1" fmla="val 49988"/>
            </a:avLst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0" name="Google Shape;9654;p781">
            <a:extLst>
              <a:ext uri="{FF2B5EF4-FFF2-40B4-BE49-F238E27FC236}">
                <a16:creationId xmlns:a16="http://schemas.microsoft.com/office/drawing/2014/main" id="{6D05DAF1-607A-DFF7-9C57-A35DD428C959}"/>
              </a:ext>
            </a:extLst>
          </p:cNvPr>
          <p:cNvCxnSpPr>
            <a:stCxn id="6" idx="2"/>
            <a:endCxn id="13" idx="0"/>
          </p:cNvCxnSpPr>
          <p:nvPr/>
        </p:nvCxnSpPr>
        <p:spPr>
          <a:xfrm rot="-5400000" flipH="1">
            <a:off x="6565645" y="2484083"/>
            <a:ext cx="457800" cy="600"/>
          </a:xfrm>
          <a:prstGeom prst="bentConnector3">
            <a:avLst>
              <a:gd name="adj1" fmla="val 49988"/>
            </a:avLst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1" name="Google Shape;9656;p781">
            <a:extLst>
              <a:ext uri="{FF2B5EF4-FFF2-40B4-BE49-F238E27FC236}">
                <a16:creationId xmlns:a16="http://schemas.microsoft.com/office/drawing/2014/main" id="{997FEBD1-0E09-FBB7-6790-1874D74B87C1}"/>
              </a:ext>
            </a:extLst>
          </p:cNvPr>
          <p:cNvCxnSpPr>
            <a:stCxn id="6" idx="2"/>
            <a:endCxn id="33" idx="0"/>
          </p:cNvCxnSpPr>
          <p:nvPr/>
        </p:nvCxnSpPr>
        <p:spPr>
          <a:xfrm rot="-5400000" flipH="1">
            <a:off x="7241095" y="1808633"/>
            <a:ext cx="457800" cy="1351500"/>
          </a:xfrm>
          <a:prstGeom prst="bentConnector3">
            <a:avLst>
              <a:gd name="adj1" fmla="val 49988"/>
            </a:avLst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12" name="Google Shape;9658;p781">
            <a:extLst>
              <a:ext uri="{FF2B5EF4-FFF2-40B4-BE49-F238E27FC236}">
                <a16:creationId xmlns:a16="http://schemas.microsoft.com/office/drawing/2014/main" id="{A6ADBAF7-8248-8680-978D-DFCC9E1C5F47}"/>
              </a:ext>
            </a:extLst>
          </p:cNvPr>
          <p:cNvGrpSpPr/>
          <p:nvPr/>
        </p:nvGrpSpPr>
        <p:grpSpPr>
          <a:xfrm>
            <a:off x="6174522" y="2713175"/>
            <a:ext cx="1240369" cy="2511937"/>
            <a:chOff x="4525523" y="2356463"/>
            <a:chExt cx="930300" cy="1884000"/>
          </a:xfrm>
        </p:grpSpPr>
        <p:sp>
          <p:nvSpPr>
            <p:cNvPr id="13" name="Google Shape;9655;p781">
              <a:extLst>
                <a:ext uri="{FF2B5EF4-FFF2-40B4-BE49-F238E27FC236}">
                  <a16:creationId xmlns:a16="http://schemas.microsoft.com/office/drawing/2014/main" id="{85D2289A-E2A1-1778-066B-70AFBA18082A}"/>
                </a:ext>
              </a:extLst>
            </p:cNvPr>
            <p:cNvSpPr/>
            <p:nvPr/>
          </p:nvSpPr>
          <p:spPr>
            <a:xfrm>
              <a:off x="4525523" y="2356463"/>
              <a:ext cx="930300" cy="188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>
              <a:outerShdw blurRad="76200" dist="2540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lt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Pod 2</a:t>
              </a:r>
              <a:endParaRPr sz="1200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" name="Google Shape;9659;p781">
              <a:extLst>
                <a:ext uri="{FF2B5EF4-FFF2-40B4-BE49-F238E27FC236}">
                  <a16:creationId xmlns:a16="http://schemas.microsoft.com/office/drawing/2014/main" id="{BFFDCB9B-9CFA-91A8-C66B-BE57C8D92433}"/>
                </a:ext>
              </a:extLst>
            </p:cNvPr>
            <p:cNvSpPr/>
            <p:nvPr/>
          </p:nvSpPr>
          <p:spPr>
            <a:xfrm>
              <a:off x="4561298" y="2565903"/>
              <a:ext cx="858900" cy="291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" name="Google Shape;9660;p781">
              <a:extLst>
                <a:ext uri="{FF2B5EF4-FFF2-40B4-BE49-F238E27FC236}">
                  <a16:creationId xmlns:a16="http://schemas.microsoft.com/office/drawing/2014/main" id="{DC8F159E-9774-652E-CEE4-55918E291C5D}"/>
                </a:ext>
              </a:extLst>
            </p:cNvPr>
            <p:cNvSpPr/>
            <p:nvPr/>
          </p:nvSpPr>
          <p:spPr>
            <a:xfrm>
              <a:off x="4561298" y="3065173"/>
              <a:ext cx="858900" cy="291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grpSp>
          <p:nvGrpSpPr>
            <p:cNvPr id="16" name="Google Shape;9661;p781">
              <a:extLst>
                <a:ext uri="{FF2B5EF4-FFF2-40B4-BE49-F238E27FC236}">
                  <a16:creationId xmlns:a16="http://schemas.microsoft.com/office/drawing/2014/main" id="{E9A2B743-C493-9FE6-BF16-6D6CBFC6FDDD}"/>
                </a:ext>
              </a:extLst>
            </p:cNvPr>
            <p:cNvGrpSpPr/>
            <p:nvPr/>
          </p:nvGrpSpPr>
          <p:grpSpPr>
            <a:xfrm>
              <a:off x="4561298" y="3545131"/>
              <a:ext cx="858825" cy="414900"/>
              <a:chOff x="2344800" y="5011513"/>
              <a:chExt cx="1145100" cy="553200"/>
            </a:xfrm>
          </p:grpSpPr>
          <p:sp>
            <p:nvSpPr>
              <p:cNvPr id="19" name="Google Shape;9662;p781">
                <a:extLst>
                  <a:ext uri="{FF2B5EF4-FFF2-40B4-BE49-F238E27FC236}">
                    <a16:creationId xmlns:a16="http://schemas.microsoft.com/office/drawing/2014/main" id="{32678D2C-5E1A-AB2F-3D6B-2A4B043F812D}"/>
                  </a:ext>
                </a:extLst>
              </p:cNvPr>
              <p:cNvSpPr/>
              <p:nvPr/>
            </p:nvSpPr>
            <p:spPr>
              <a:xfrm>
                <a:off x="2344800" y="5011513"/>
                <a:ext cx="1145100" cy="5532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  <p:pic>
            <p:nvPicPr>
              <p:cNvPr id="20" name="Google Shape;9663;p781">
                <a:extLst>
                  <a:ext uri="{FF2B5EF4-FFF2-40B4-BE49-F238E27FC236}">
                    <a16:creationId xmlns:a16="http://schemas.microsoft.com/office/drawing/2014/main" id="{4551AB2A-B32A-F3F5-E670-661B70885118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591147" y="5049165"/>
                <a:ext cx="652406" cy="4026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" name="Google Shape;9664;p781">
                <a:extLst>
                  <a:ext uri="{FF2B5EF4-FFF2-40B4-BE49-F238E27FC236}">
                    <a16:creationId xmlns:a16="http://schemas.microsoft.com/office/drawing/2014/main" id="{44D9F230-EDC0-DE88-13A6-FB56E524D007}"/>
                  </a:ext>
                </a:extLst>
              </p:cNvPr>
              <p:cNvSpPr txBox="1"/>
              <p:nvPr/>
            </p:nvSpPr>
            <p:spPr>
              <a:xfrm>
                <a:off x="2485950" y="5320597"/>
                <a:ext cx="862800" cy="22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ed Hat Display"/>
                    <a:ea typeface="Red Hat Display"/>
                    <a:cs typeface="Red Hat Display"/>
                    <a:sym typeface="Red Hat Display"/>
                  </a:rPr>
                  <a:t>Instinct</a:t>
                </a:r>
                <a:endParaRPr sz="1200"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</p:grpSp>
        <p:pic>
          <p:nvPicPr>
            <p:cNvPr id="17" name="Google Shape;9665;p781">
              <a:extLst>
                <a:ext uri="{FF2B5EF4-FFF2-40B4-BE49-F238E27FC236}">
                  <a16:creationId xmlns:a16="http://schemas.microsoft.com/office/drawing/2014/main" id="{E09617FD-9110-9153-8CBC-8899B13AA245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631964" y="3108261"/>
              <a:ext cx="717491" cy="205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9666;p781">
              <a:extLst>
                <a:ext uri="{FF2B5EF4-FFF2-40B4-BE49-F238E27FC236}">
                  <a16:creationId xmlns:a16="http://schemas.microsoft.com/office/drawing/2014/main" id="{4668BF11-0100-A0E0-2F51-488BDEE2EB54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684543" y="2601315"/>
              <a:ext cx="647045" cy="2189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" name="Google Shape;9667;p781">
            <a:extLst>
              <a:ext uri="{FF2B5EF4-FFF2-40B4-BE49-F238E27FC236}">
                <a16:creationId xmlns:a16="http://schemas.microsoft.com/office/drawing/2014/main" id="{115532A6-5224-49A1-8830-48D907C812E8}"/>
              </a:ext>
            </a:extLst>
          </p:cNvPr>
          <p:cNvGrpSpPr/>
          <p:nvPr/>
        </p:nvGrpSpPr>
        <p:grpSpPr>
          <a:xfrm>
            <a:off x="4822056" y="2713175"/>
            <a:ext cx="1240369" cy="2511937"/>
            <a:chOff x="3511148" y="2356463"/>
            <a:chExt cx="930300" cy="1884000"/>
          </a:xfrm>
        </p:grpSpPr>
        <p:sp>
          <p:nvSpPr>
            <p:cNvPr id="23" name="Google Shape;9653;p781">
              <a:extLst>
                <a:ext uri="{FF2B5EF4-FFF2-40B4-BE49-F238E27FC236}">
                  <a16:creationId xmlns:a16="http://schemas.microsoft.com/office/drawing/2014/main" id="{E8F8E8A9-A779-CFA6-DA41-E2C4F01A2B21}"/>
                </a:ext>
              </a:extLst>
            </p:cNvPr>
            <p:cNvSpPr/>
            <p:nvPr/>
          </p:nvSpPr>
          <p:spPr>
            <a:xfrm>
              <a:off x="3511148" y="2356463"/>
              <a:ext cx="930300" cy="188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>
              <a:outerShdw blurRad="76200" dist="2540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lt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Pod 1</a:t>
              </a:r>
              <a:endParaRPr sz="1200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4" name="Google Shape;9668;p781">
              <a:extLst>
                <a:ext uri="{FF2B5EF4-FFF2-40B4-BE49-F238E27FC236}">
                  <a16:creationId xmlns:a16="http://schemas.microsoft.com/office/drawing/2014/main" id="{868224AE-D5DF-B6C7-CA71-4AB73EF436A4}"/>
                </a:ext>
              </a:extLst>
            </p:cNvPr>
            <p:cNvSpPr/>
            <p:nvPr/>
          </p:nvSpPr>
          <p:spPr>
            <a:xfrm>
              <a:off x="3546923" y="2565903"/>
              <a:ext cx="858900" cy="291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5" name="Google Shape;9669;p781">
              <a:extLst>
                <a:ext uri="{FF2B5EF4-FFF2-40B4-BE49-F238E27FC236}">
                  <a16:creationId xmlns:a16="http://schemas.microsoft.com/office/drawing/2014/main" id="{E5F8DB3B-9746-BF19-717F-F004B9A86F57}"/>
                </a:ext>
              </a:extLst>
            </p:cNvPr>
            <p:cNvSpPr/>
            <p:nvPr/>
          </p:nvSpPr>
          <p:spPr>
            <a:xfrm>
              <a:off x="3546923" y="3065173"/>
              <a:ext cx="858900" cy="291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grpSp>
          <p:nvGrpSpPr>
            <p:cNvPr id="26" name="Google Shape;9670;p781">
              <a:extLst>
                <a:ext uri="{FF2B5EF4-FFF2-40B4-BE49-F238E27FC236}">
                  <a16:creationId xmlns:a16="http://schemas.microsoft.com/office/drawing/2014/main" id="{F7F26F22-9FBF-4114-38EE-F1D309121785}"/>
                </a:ext>
              </a:extLst>
            </p:cNvPr>
            <p:cNvGrpSpPr/>
            <p:nvPr/>
          </p:nvGrpSpPr>
          <p:grpSpPr>
            <a:xfrm>
              <a:off x="3546923" y="3571334"/>
              <a:ext cx="858825" cy="414900"/>
              <a:chOff x="944600" y="5046450"/>
              <a:chExt cx="1145100" cy="553200"/>
            </a:xfrm>
          </p:grpSpPr>
          <p:sp>
            <p:nvSpPr>
              <p:cNvPr id="29" name="Google Shape;9671;p781">
                <a:extLst>
                  <a:ext uri="{FF2B5EF4-FFF2-40B4-BE49-F238E27FC236}">
                    <a16:creationId xmlns:a16="http://schemas.microsoft.com/office/drawing/2014/main" id="{6EF4F90A-EFE6-4B02-B9C8-FA2ED58FE166}"/>
                  </a:ext>
                </a:extLst>
              </p:cNvPr>
              <p:cNvSpPr/>
              <p:nvPr/>
            </p:nvSpPr>
            <p:spPr>
              <a:xfrm>
                <a:off x="944600" y="5046450"/>
                <a:ext cx="1145100" cy="5532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  <p:pic>
            <p:nvPicPr>
              <p:cNvPr id="30" name="Google Shape;9672;p781">
                <a:extLst>
                  <a:ext uri="{FF2B5EF4-FFF2-40B4-BE49-F238E27FC236}">
                    <a16:creationId xmlns:a16="http://schemas.microsoft.com/office/drawing/2014/main" id="{8AAF9939-47A7-4519-0977-AEC98C805B87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 t="29647" b="28091"/>
              <a:stretch/>
            </p:blipFill>
            <p:spPr>
              <a:xfrm>
                <a:off x="1017725" y="5136274"/>
                <a:ext cx="998850" cy="233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" name="Google Shape;9673;p781">
                <a:extLst>
                  <a:ext uri="{FF2B5EF4-FFF2-40B4-BE49-F238E27FC236}">
                    <a16:creationId xmlns:a16="http://schemas.microsoft.com/office/drawing/2014/main" id="{7ABD1576-3C7E-93B0-D4B1-94F685A3EB4C}"/>
                  </a:ext>
                </a:extLst>
              </p:cNvPr>
              <p:cNvSpPr txBox="1"/>
              <p:nvPr/>
            </p:nvSpPr>
            <p:spPr>
              <a:xfrm>
                <a:off x="1085750" y="5320597"/>
                <a:ext cx="862800" cy="22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ed Hat Display"/>
                    <a:ea typeface="Red Hat Display"/>
                    <a:cs typeface="Red Hat Display"/>
                    <a:sym typeface="Red Hat Display"/>
                  </a:rPr>
                  <a:t>GPU</a:t>
                </a:r>
                <a:endParaRPr sz="1200"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</p:grpSp>
        <p:pic>
          <p:nvPicPr>
            <p:cNvPr id="27" name="Google Shape;9674;p781">
              <a:extLst>
                <a:ext uri="{FF2B5EF4-FFF2-40B4-BE49-F238E27FC236}">
                  <a16:creationId xmlns:a16="http://schemas.microsoft.com/office/drawing/2014/main" id="{5AD82F8A-2ECC-4987-999D-D7656A341FE1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617589" y="3108261"/>
              <a:ext cx="717491" cy="205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9675;p781">
              <a:extLst>
                <a:ext uri="{FF2B5EF4-FFF2-40B4-BE49-F238E27FC236}">
                  <a16:creationId xmlns:a16="http://schemas.microsoft.com/office/drawing/2014/main" id="{DBA2AAFA-44BC-E66A-F00F-8C09D752AB82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 r="64363"/>
            <a:stretch/>
          </p:blipFill>
          <p:spPr>
            <a:xfrm>
              <a:off x="3830850" y="2554018"/>
              <a:ext cx="291891" cy="313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" name="Google Shape;9676;p781">
            <a:extLst>
              <a:ext uri="{FF2B5EF4-FFF2-40B4-BE49-F238E27FC236}">
                <a16:creationId xmlns:a16="http://schemas.microsoft.com/office/drawing/2014/main" id="{6011EB68-1705-730A-6001-11AB6C1F4161}"/>
              </a:ext>
            </a:extLst>
          </p:cNvPr>
          <p:cNvGrpSpPr/>
          <p:nvPr/>
        </p:nvGrpSpPr>
        <p:grpSpPr>
          <a:xfrm>
            <a:off x="7525655" y="2713175"/>
            <a:ext cx="1240369" cy="2511937"/>
            <a:chOff x="5538898" y="2356463"/>
            <a:chExt cx="930300" cy="1884000"/>
          </a:xfrm>
        </p:grpSpPr>
        <p:sp>
          <p:nvSpPr>
            <p:cNvPr id="33" name="Google Shape;9657;p781">
              <a:extLst>
                <a:ext uri="{FF2B5EF4-FFF2-40B4-BE49-F238E27FC236}">
                  <a16:creationId xmlns:a16="http://schemas.microsoft.com/office/drawing/2014/main" id="{E15FC305-7E25-B096-7041-FDB44B402C56}"/>
                </a:ext>
              </a:extLst>
            </p:cNvPr>
            <p:cNvSpPr/>
            <p:nvPr/>
          </p:nvSpPr>
          <p:spPr>
            <a:xfrm>
              <a:off x="5538898" y="2356463"/>
              <a:ext cx="930300" cy="188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>
              <a:outerShdw blurRad="76200" dist="2540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lt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Pod 3</a:t>
              </a:r>
              <a:endParaRPr sz="1200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" name="Google Shape;9677;p781">
              <a:extLst>
                <a:ext uri="{FF2B5EF4-FFF2-40B4-BE49-F238E27FC236}">
                  <a16:creationId xmlns:a16="http://schemas.microsoft.com/office/drawing/2014/main" id="{585D415A-727C-70C1-3DF5-BD350FFFBF23}"/>
                </a:ext>
              </a:extLst>
            </p:cNvPr>
            <p:cNvSpPr/>
            <p:nvPr/>
          </p:nvSpPr>
          <p:spPr>
            <a:xfrm>
              <a:off x="5574673" y="2565903"/>
              <a:ext cx="858900" cy="291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" name="Google Shape;9678;p781">
              <a:extLst>
                <a:ext uri="{FF2B5EF4-FFF2-40B4-BE49-F238E27FC236}">
                  <a16:creationId xmlns:a16="http://schemas.microsoft.com/office/drawing/2014/main" id="{9650B8A5-3F9F-C982-F49F-0EF2682F5657}"/>
                </a:ext>
              </a:extLst>
            </p:cNvPr>
            <p:cNvSpPr/>
            <p:nvPr/>
          </p:nvSpPr>
          <p:spPr>
            <a:xfrm>
              <a:off x="5574673" y="3065173"/>
              <a:ext cx="858900" cy="291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grpSp>
          <p:nvGrpSpPr>
            <p:cNvPr id="36" name="Google Shape;9679;p781">
              <a:extLst>
                <a:ext uri="{FF2B5EF4-FFF2-40B4-BE49-F238E27FC236}">
                  <a16:creationId xmlns:a16="http://schemas.microsoft.com/office/drawing/2014/main" id="{38925D8F-57EC-D554-F9F8-F67E00EA98BC}"/>
                </a:ext>
              </a:extLst>
            </p:cNvPr>
            <p:cNvGrpSpPr/>
            <p:nvPr/>
          </p:nvGrpSpPr>
          <p:grpSpPr>
            <a:xfrm>
              <a:off x="5574673" y="3545131"/>
              <a:ext cx="858825" cy="414900"/>
              <a:chOff x="3854700" y="5011513"/>
              <a:chExt cx="1145100" cy="553200"/>
            </a:xfrm>
          </p:grpSpPr>
          <p:sp>
            <p:nvSpPr>
              <p:cNvPr id="39" name="Google Shape;9680;p781">
                <a:extLst>
                  <a:ext uri="{FF2B5EF4-FFF2-40B4-BE49-F238E27FC236}">
                    <a16:creationId xmlns:a16="http://schemas.microsoft.com/office/drawing/2014/main" id="{50EAF14A-6DE3-6C3F-1400-35CA07B177D0}"/>
                  </a:ext>
                </a:extLst>
              </p:cNvPr>
              <p:cNvSpPr/>
              <p:nvPr/>
            </p:nvSpPr>
            <p:spPr>
              <a:xfrm>
                <a:off x="3854700" y="5011513"/>
                <a:ext cx="1145100" cy="5532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  <p:pic>
            <p:nvPicPr>
              <p:cNvPr id="40" name="Google Shape;9681;p781">
                <a:extLst>
                  <a:ext uri="{FF2B5EF4-FFF2-40B4-BE49-F238E27FC236}">
                    <a16:creationId xmlns:a16="http://schemas.microsoft.com/office/drawing/2014/main" id="{8A78EE9D-C19E-8D63-DE94-E49F2A88C437}"/>
                  </a:ext>
                </a:extLst>
              </p:cNvPr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101050" y="5124304"/>
                <a:ext cx="652400" cy="2265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" name="Google Shape;9682;p781">
                <a:extLst>
                  <a:ext uri="{FF2B5EF4-FFF2-40B4-BE49-F238E27FC236}">
                    <a16:creationId xmlns:a16="http://schemas.microsoft.com/office/drawing/2014/main" id="{4E91C323-69C6-0394-B4BD-8069177C5DF4}"/>
                  </a:ext>
                </a:extLst>
              </p:cNvPr>
              <p:cNvSpPr txBox="1"/>
              <p:nvPr/>
            </p:nvSpPr>
            <p:spPr>
              <a:xfrm>
                <a:off x="3995850" y="5320597"/>
                <a:ext cx="862800" cy="22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ed Hat Display"/>
                    <a:ea typeface="Red Hat Display"/>
                    <a:cs typeface="Red Hat Display"/>
                    <a:sym typeface="Red Hat Display"/>
                  </a:rPr>
                  <a:t>TPU</a:t>
                </a:r>
                <a:endParaRPr sz="1200"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</p:grpSp>
        <p:pic>
          <p:nvPicPr>
            <p:cNvPr id="37" name="Google Shape;9683;p781">
              <a:extLst>
                <a:ext uri="{FF2B5EF4-FFF2-40B4-BE49-F238E27FC236}">
                  <a16:creationId xmlns:a16="http://schemas.microsoft.com/office/drawing/2014/main" id="{28E99921-7EEE-DEF3-AC28-BB6DA85E9854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645340" y="3108261"/>
              <a:ext cx="717491" cy="205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Google Shape;9684;p781">
              <a:extLst>
                <a:ext uri="{FF2B5EF4-FFF2-40B4-BE49-F238E27FC236}">
                  <a16:creationId xmlns:a16="http://schemas.microsoft.com/office/drawing/2014/main" id="{558D4CF0-9EDB-BEC7-9C3E-4A6D1477FC27}"/>
                </a:ext>
              </a:extLst>
            </p:cNvPr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858594" y="2564827"/>
              <a:ext cx="291900" cy="2919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" name="Google Shape;9685;p781">
            <a:extLst>
              <a:ext uri="{FF2B5EF4-FFF2-40B4-BE49-F238E27FC236}">
                <a16:creationId xmlns:a16="http://schemas.microsoft.com/office/drawing/2014/main" id="{9391C798-CF52-77C0-8547-C72D195B6DD0}"/>
              </a:ext>
            </a:extLst>
          </p:cNvPr>
          <p:cNvSpPr txBox="1"/>
          <p:nvPr/>
        </p:nvSpPr>
        <p:spPr>
          <a:xfrm>
            <a:off x="8979493" y="4321440"/>
            <a:ext cx="2094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Accelerators</a:t>
            </a:r>
            <a:endParaRPr sz="1500" b="1">
              <a:solidFill>
                <a:schemeClr val="accen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" name="Google Shape;9686;p781">
            <a:extLst>
              <a:ext uri="{FF2B5EF4-FFF2-40B4-BE49-F238E27FC236}">
                <a16:creationId xmlns:a16="http://schemas.microsoft.com/office/drawing/2014/main" id="{4AE6F237-1480-4D02-0C7A-89B506D1D4DA}"/>
              </a:ext>
            </a:extLst>
          </p:cNvPr>
          <p:cNvSpPr txBox="1"/>
          <p:nvPr/>
        </p:nvSpPr>
        <p:spPr>
          <a:xfrm>
            <a:off x="8979493" y="3651399"/>
            <a:ext cx="2094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Inference Server</a:t>
            </a:r>
            <a:endParaRPr sz="1500" b="1">
              <a:solidFill>
                <a:schemeClr val="accen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" name="Google Shape;9688;p781">
            <a:extLst>
              <a:ext uri="{FF2B5EF4-FFF2-40B4-BE49-F238E27FC236}">
                <a16:creationId xmlns:a16="http://schemas.microsoft.com/office/drawing/2014/main" id="{ECF2D50C-2217-6489-DF65-3D2EF865AD65}"/>
              </a:ext>
            </a:extLst>
          </p:cNvPr>
          <p:cNvSpPr txBox="1"/>
          <p:nvPr/>
        </p:nvSpPr>
        <p:spPr>
          <a:xfrm>
            <a:off x="8979493" y="2981357"/>
            <a:ext cx="2094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Models</a:t>
            </a:r>
            <a:endParaRPr sz="1500" b="1">
              <a:solidFill>
                <a:schemeClr val="accen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5" name="Google Shape;9689;p781">
            <a:extLst>
              <a:ext uri="{FF2B5EF4-FFF2-40B4-BE49-F238E27FC236}">
                <a16:creationId xmlns:a16="http://schemas.microsoft.com/office/drawing/2014/main" id="{8AAF51AA-7D89-2B68-993C-9F06F886CE6E}"/>
              </a:ext>
            </a:extLst>
          </p:cNvPr>
          <p:cNvSpPr txBox="1"/>
          <p:nvPr/>
        </p:nvSpPr>
        <p:spPr>
          <a:xfrm>
            <a:off x="8979493" y="1153049"/>
            <a:ext cx="20949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AI Gateway/API Mgt</a:t>
            </a:r>
            <a:endParaRPr sz="1500" b="1">
              <a:solidFill>
                <a:schemeClr val="accen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6" name="Google Shape;9690;p781">
            <a:extLst>
              <a:ext uri="{FF2B5EF4-FFF2-40B4-BE49-F238E27FC236}">
                <a16:creationId xmlns:a16="http://schemas.microsoft.com/office/drawing/2014/main" id="{139F7D9D-83A6-3F1C-80B2-C7023FD88F31}"/>
              </a:ext>
            </a:extLst>
          </p:cNvPr>
          <p:cNvSpPr/>
          <p:nvPr/>
        </p:nvSpPr>
        <p:spPr>
          <a:xfrm>
            <a:off x="8805742" y="4240596"/>
            <a:ext cx="106500" cy="645600"/>
          </a:xfrm>
          <a:prstGeom prst="rightBracket">
            <a:avLst>
              <a:gd name="adj" fmla="val 8333"/>
            </a:avLst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7" name="Google Shape;9691;p781">
            <a:extLst>
              <a:ext uri="{FF2B5EF4-FFF2-40B4-BE49-F238E27FC236}">
                <a16:creationId xmlns:a16="http://schemas.microsoft.com/office/drawing/2014/main" id="{887FC54E-EE11-45D9-4E4C-F88FABD39184}"/>
              </a:ext>
            </a:extLst>
          </p:cNvPr>
          <p:cNvSpPr/>
          <p:nvPr/>
        </p:nvSpPr>
        <p:spPr>
          <a:xfrm>
            <a:off x="8805742" y="3529962"/>
            <a:ext cx="106500" cy="645600"/>
          </a:xfrm>
          <a:prstGeom prst="rightBracket">
            <a:avLst>
              <a:gd name="adj" fmla="val 8333"/>
            </a:avLst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" name="Google Shape;9692;p781">
            <a:extLst>
              <a:ext uri="{FF2B5EF4-FFF2-40B4-BE49-F238E27FC236}">
                <a16:creationId xmlns:a16="http://schemas.microsoft.com/office/drawing/2014/main" id="{F54369F0-BD1E-E526-4241-F9199AA56B3D}"/>
              </a:ext>
            </a:extLst>
          </p:cNvPr>
          <p:cNvSpPr/>
          <p:nvPr/>
        </p:nvSpPr>
        <p:spPr>
          <a:xfrm>
            <a:off x="8805742" y="2819329"/>
            <a:ext cx="106500" cy="645600"/>
          </a:xfrm>
          <a:prstGeom prst="rightBracket">
            <a:avLst>
              <a:gd name="adj" fmla="val 8333"/>
            </a:avLst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9" name="Google Shape;9693;p781">
            <a:extLst>
              <a:ext uri="{FF2B5EF4-FFF2-40B4-BE49-F238E27FC236}">
                <a16:creationId xmlns:a16="http://schemas.microsoft.com/office/drawing/2014/main" id="{80C694B4-C203-7C68-B575-FE311F33A34F}"/>
              </a:ext>
            </a:extLst>
          </p:cNvPr>
          <p:cNvSpPr/>
          <p:nvPr/>
        </p:nvSpPr>
        <p:spPr>
          <a:xfrm>
            <a:off x="8805742" y="1775779"/>
            <a:ext cx="106500" cy="882000"/>
          </a:xfrm>
          <a:prstGeom prst="rightBracket">
            <a:avLst>
              <a:gd name="adj" fmla="val 8333"/>
            </a:avLst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0" name="Google Shape;9694;p781">
            <a:extLst>
              <a:ext uri="{FF2B5EF4-FFF2-40B4-BE49-F238E27FC236}">
                <a16:creationId xmlns:a16="http://schemas.microsoft.com/office/drawing/2014/main" id="{CC1C1053-DB5C-6E18-B899-E21E5561D59E}"/>
              </a:ext>
            </a:extLst>
          </p:cNvPr>
          <p:cNvSpPr/>
          <p:nvPr/>
        </p:nvSpPr>
        <p:spPr>
          <a:xfrm>
            <a:off x="767342" y="1256296"/>
            <a:ext cx="7998900" cy="389100"/>
          </a:xfrm>
          <a:prstGeom prst="rect">
            <a:avLst/>
          </a:prstGeom>
          <a:solidFill>
            <a:srgbClr val="FFFFFE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Model as a Service</a:t>
            </a:r>
            <a:endParaRPr sz="1600" b="1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1" name="Google Shape;9695;p781">
            <a:extLst>
              <a:ext uri="{FF2B5EF4-FFF2-40B4-BE49-F238E27FC236}">
                <a16:creationId xmlns:a16="http://schemas.microsoft.com/office/drawing/2014/main" id="{B286D035-6F16-1DED-FE98-45D951804BF9}"/>
              </a:ext>
            </a:extLst>
          </p:cNvPr>
          <p:cNvSpPr/>
          <p:nvPr/>
        </p:nvSpPr>
        <p:spPr>
          <a:xfrm>
            <a:off x="8808409" y="1212829"/>
            <a:ext cx="106500" cy="457500"/>
          </a:xfrm>
          <a:prstGeom prst="rightBracket">
            <a:avLst>
              <a:gd name="adj" fmla="val 8333"/>
            </a:avLst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52" name="Google Shape;9697;p781">
            <a:extLst>
              <a:ext uri="{FF2B5EF4-FFF2-40B4-BE49-F238E27FC236}">
                <a16:creationId xmlns:a16="http://schemas.microsoft.com/office/drawing/2014/main" id="{EBA8ABAD-BA1C-CEDB-F7B8-B112BA26657D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2592" y="2981343"/>
            <a:ext cx="975600" cy="72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9698;p781">
            <a:extLst>
              <a:ext uri="{FF2B5EF4-FFF2-40B4-BE49-F238E27FC236}">
                <a16:creationId xmlns:a16="http://schemas.microsoft.com/office/drawing/2014/main" id="{F60D4E89-0B03-A5DB-D8BD-2C024846EDDF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324623" y="2993053"/>
            <a:ext cx="527676" cy="52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9699;p781">
            <a:extLst>
              <a:ext uri="{FF2B5EF4-FFF2-40B4-BE49-F238E27FC236}">
                <a16:creationId xmlns:a16="http://schemas.microsoft.com/office/drawing/2014/main" id="{01E30FD8-ED91-76D8-1C38-2E8D876D0EB9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408715" y="2988944"/>
            <a:ext cx="723128" cy="723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9700;p781">
            <a:extLst>
              <a:ext uri="{FF2B5EF4-FFF2-40B4-BE49-F238E27FC236}">
                <a16:creationId xmlns:a16="http://schemas.microsoft.com/office/drawing/2014/main" id="{0F14B989-6BFC-BED0-3286-F855651ACDE1}"/>
              </a:ext>
            </a:extLst>
          </p:cNvPr>
          <p:cNvCxnSpPr>
            <a:stCxn id="50" idx="2"/>
            <a:endCxn id="52" idx="0"/>
          </p:cNvCxnSpPr>
          <p:nvPr/>
        </p:nvCxnSpPr>
        <p:spPr>
          <a:xfrm rot="5400000">
            <a:off x="2355692" y="570196"/>
            <a:ext cx="1335900" cy="34863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" name="Google Shape;9701;p781">
            <a:extLst>
              <a:ext uri="{FF2B5EF4-FFF2-40B4-BE49-F238E27FC236}">
                <a16:creationId xmlns:a16="http://schemas.microsoft.com/office/drawing/2014/main" id="{64EECE46-C81B-0F03-D74D-49EC6999036D}"/>
              </a:ext>
            </a:extLst>
          </p:cNvPr>
          <p:cNvCxnSpPr>
            <a:stCxn id="50" idx="2"/>
            <a:endCxn id="53" idx="0"/>
          </p:cNvCxnSpPr>
          <p:nvPr/>
        </p:nvCxnSpPr>
        <p:spPr>
          <a:xfrm rot="5400000">
            <a:off x="3003842" y="1230046"/>
            <a:ext cx="1347600" cy="21783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" name="Google Shape;9702;p781">
            <a:extLst>
              <a:ext uri="{FF2B5EF4-FFF2-40B4-BE49-F238E27FC236}">
                <a16:creationId xmlns:a16="http://schemas.microsoft.com/office/drawing/2014/main" id="{1FEDBADF-42AE-66CE-C911-AB553F747B39}"/>
              </a:ext>
            </a:extLst>
          </p:cNvPr>
          <p:cNvCxnSpPr>
            <a:stCxn id="50" idx="2"/>
            <a:endCxn id="54" idx="0"/>
          </p:cNvCxnSpPr>
          <p:nvPr/>
        </p:nvCxnSpPr>
        <p:spPr>
          <a:xfrm rot="5400000">
            <a:off x="3596792" y="1818796"/>
            <a:ext cx="1343400" cy="9966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8" name="Google Shape;9703;p781">
            <a:extLst>
              <a:ext uri="{FF2B5EF4-FFF2-40B4-BE49-F238E27FC236}">
                <a16:creationId xmlns:a16="http://schemas.microsoft.com/office/drawing/2014/main" id="{514474D6-D067-CE5B-1740-7F2EA60F82A4}"/>
              </a:ext>
            </a:extLst>
          </p:cNvPr>
          <p:cNvSpPr/>
          <p:nvPr/>
        </p:nvSpPr>
        <p:spPr>
          <a:xfrm>
            <a:off x="767342" y="3882511"/>
            <a:ext cx="3364500" cy="402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76200" dist="2540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External Model Providers</a:t>
            </a:r>
            <a:endParaRPr sz="1200" b="1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" name="Google Shape;9687;p781">
            <a:extLst>
              <a:ext uri="{FF2B5EF4-FFF2-40B4-BE49-F238E27FC236}">
                <a16:creationId xmlns:a16="http://schemas.microsoft.com/office/drawing/2014/main" id="{5B4F7CAE-AF26-49EF-867F-FEAC17D76E55}"/>
              </a:ext>
            </a:extLst>
          </p:cNvPr>
          <p:cNvSpPr txBox="1"/>
          <p:nvPr/>
        </p:nvSpPr>
        <p:spPr>
          <a:xfrm>
            <a:off x="8912242" y="1974111"/>
            <a:ext cx="3102692" cy="40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r>
              <a:rPr lang="en" sz="1500" b="1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Distributed Inference Framework</a:t>
            </a:r>
            <a:endParaRPr sz="1500" b="1">
              <a:solidFill>
                <a:schemeClr val="accen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159C49D-F932-901B-D201-D9931AAC0E4E}"/>
              </a:ext>
            </a:extLst>
          </p:cNvPr>
          <p:cNvSpPr txBox="1"/>
          <p:nvPr/>
        </p:nvSpPr>
        <p:spPr>
          <a:xfrm>
            <a:off x="643439" y="5601704"/>
            <a:ext cx="3364501" cy="90794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EE0000"/>
                </a:solidFill>
              </a:defRPr>
            </a:pPr>
            <a:r>
              <a:rPr sz="2000" dirty="0"/>
              <a:t>• GPT-oss-20</a:t>
            </a:r>
            <a:r>
              <a:rPr lang="en-US" sz="2000" dirty="0"/>
              <a:t>b</a:t>
            </a:r>
          </a:p>
          <a:p>
            <a:pPr lvl="1">
              <a:spcAft>
                <a:spcPts val="200"/>
              </a:spcAft>
              <a:defRPr sz="1400"/>
            </a:pPr>
            <a:r>
              <a:rPr lang="en-US" sz="1400" dirty="0"/>
              <a:t>21B </a:t>
            </a:r>
            <a:r>
              <a:rPr lang="en-US" sz="1400" dirty="0" err="1"/>
              <a:t>MoE</a:t>
            </a:r>
            <a:r>
              <a:rPr lang="en-US" sz="1400" dirty="0"/>
              <a:t> (3.6B active), 128K context. </a:t>
            </a:r>
          </a:p>
          <a:p>
            <a:pPr lvl="1">
              <a:spcAft>
                <a:spcPts val="200"/>
              </a:spcAft>
              <a:defRPr sz="1400"/>
            </a:pPr>
            <a:r>
              <a:rPr sz="1400" dirty="0"/>
              <a:t>Use: Document parsing, reasoning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39300E8-348C-31E7-AF1F-2C2F3198E5CE}"/>
              </a:ext>
            </a:extLst>
          </p:cNvPr>
          <p:cNvSpPr txBox="1"/>
          <p:nvPr/>
        </p:nvSpPr>
        <p:spPr>
          <a:xfrm>
            <a:off x="4287586" y="5601704"/>
            <a:ext cx="3540906" cy="11490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EE0000"/>
                </a:solidFill>
              </a:defRPr>
            </a:pPr>
            <a:r>
              <a:rPr sz="2000" dirty="0"/>
              <a:t>• BGE-M3</a:t>
            </a:r>
          </a:p>
          <a:p>
            <a:pPr lvl="1">
              <a:spcAft>
                <a:spcPts val="200"/>
              </a:spcAft>
              <a:defRPr sz="1400"/>
            </a:pPr>
            <a:r>
              <a:rPr sz="1400" dirty="0"/>
              <a:t>568M params, 1024-dim embeddings, </a:t>
            </a:r>
            <a:endParaRPr lang="en-US" sz="1400" dirty="0"/>
          </a:p>
          <a:p>
            <a:pPr lvl="1">
              <a:spcAft>
                <a:spcPts val="200"/>
              </a:spcAft>
              <a:defRPr sz="1400"/>
            </a:pPr>
            <a:r>
              <a:rPr sz="1400" dirty="0"/>
              <a:t>Multilingual EN/HE</a:t>
            </a:r>
          </a:p>
          <a:p>
            <a:pPr lvl="1">
              <a:spcAft>
                <a:spcPts val="1600"/>
              </a:spcAft>
              <a:defRPr sz="1400"/>
            </a:pPr>
            <a:r>
              <a:rPr sz="1400" dirty="0"/>
              <a:t>Use: Semantic search, RAG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2FAEED2-D93F-FE38-5F0C-485B2DC74E96}"/>
              </a:ext>
            </a:extLst>
          </p:cNvPr>
          <p:cNvSpPr txBox="1"/>
          <p:nvPr/>
        </p:nvSpPr>
        <p:spPr>
          <a:xfrm>
            <a:off x="8139044" y="5601704"/>
            <a:ext cx="3449214" cy="90794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EE0000"/>
                </a:solidFill>
              </a:defRPr>
            </a:pPr>
            <a:r>
              <a:rPr sz="2000" dirty="0"/>
              <a:t>• GPT-</a:t>
            </a:r>
            <a:r>
              <a:rPr lang="en-IL" sz="2000" dirty="0"/>
              <a:t>4</a:t>
            </a:r>
            <a:r>
              <a:rPr sz="2000" dirty="0"/>
              <a:t>o</a:t>
            </a:r>
          </a:p>
          <a:p>
            <a:pPr lvl="1">
              <a:spcAft>
                <a:spcPts val="200"/>
              </a:spcAft>
              <a:defRPr sz="1400"/>
            </a:pPr>
            <a:r>
              <a:rPr sz="1400" dirty="0"/>
              <a:t>  OpenAI via </a:t>
            </a:r>
            <a:r>
              <a:rPr sz="1400" dirty="0" err="1"/>
              <a:t>MaaS</a:t>
            </a:r>
            <a:r>
              <a:rPr sz="1400" dirty="0"/>
              <a:t> proxy, Premium tier</a:t>
            </a:r>
          </a:p>
          <a:p>
            <a:pPr lvl="1">
              <a:spcAft>
                <a:spcPts val="1600"/>
              </a:spcAft>
              <a:defRPr sz="1400"/>
            </a:pPr>
            <a:r>
              <a:rPr sz="1400" dirty="0"/>
              <a:t>  Use: Complex tasks, fallback</a:t>
            </a:r>
          </a:p>
        </p:txBody>
      </p:sp>
    </p:spTree>
    <p:extLst>
      <p:ext uri="{BB962C8B-B14F-4D97-AF65-F5344CB8AC3E}">
        <p14:creationId xmlns:p14="http://schemas.microsoft.com/office/powerpoint/2010/main" val="3246841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88825" cy="618565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843239" y="45720"/>
            <a:ext cx="22007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US" dirty="0"/>
              <a:t>Business case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88952" cy="645459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811926" y="45720"/>
            <a:ext cx="42633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Observability &amp;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12" y="2003612"/>
            <a:ext cx="3200400" cy="32004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9492" y="2186492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Prometheus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32" y="2735132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vLLM request rate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P95/P99 latency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GPU utilization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Cache hit rate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Queue depth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4212" y="2003612"/>
            <a:ext cx="3200400" cy="32004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77092" y="2186492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Grafana Dashboards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8532" y="2735132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LLM Observability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Model health status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Request tracing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Resource usage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SLO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1812" y="2003612"/>
            <a:ext cx="3200400" cy="32004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34692" y="2186492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TrustyAI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6132" y="2735132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Request logging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Bias detection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Drift analysis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Fairness metrics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Compliance reports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88825" cy="645459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37542" y="45720"/>
            <a:ext cx="42121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 err="1"/>
              <a:t>GitOps</a:t>
            </a:r>
            <a:r>
              <a:rPr dirty="0"/>
              <a:t>-Driven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42247" y="1536999"/>
            <a:ext cx="13716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42247" y="1536999"/>
            <a:ext cx="13716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Wave</a:t>
            </a:r>
          </a:p>
          <a:p>
            <a:r>
              <a:t>0-10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396727" y="1536999"/>
            <a:ext cx="3200400" cy="822960"/>
          </a:xfrm>
          <a:prstGeom prst="rect">
            <a:avLst/>
          </a:prstGeom>
          <a:solidFill>
            <a:srgbClr val="F5F5F5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79607" y="1536999"/>
            <a:ext cx="28346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Platform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1447" y="1794590"/>
            <a:ext cx="4101353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5C5C5C"/>
                </a:solidFill>
              </a:defRPr>
            </a:pPr>
            <a:r>
              <a:rPr dirty="0">
                <a:latin typeface="Abadi" panose="020B0604020104020204" pitchFamily="34" charset="77"/>
              </a:rPr>
              <a:t>Namespaces · RBAC · Operators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42247" y="2497119"/>
            <a:ext cx="1371600" cy="82296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42247" y="2497119"/>
            <a:ext cx="13716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Wave</a:t>
            </a:r>
          </a:p>
          <a:p>
            <a:r>
              <a:t>10-20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6727" y="2497119"/>
            <a:ext cx="3200400" cy="822960"/>
          </a:xfrm>
          <a:prstGeom prst="rect">
            <a:avLst/>
          </a:prstGeom>
          <a:solidFill>
            <a:srgbClr val="F5F5F5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79607" y="2497119"/>
            <a:ext cx="28346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Application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1447" y="2754710"/>
            <a:ext cx="4101353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5C5C5C"/>
                </a:solidFill>
              </a:defRPr>
            </a:pPr>
            <a:r>
              <a:rPr>
                <a:latin typeface="Abadi" panose="020B0604020104020204" pitchFamily="34" charset="77"/>
              </a:rPr>
              <a:t>PostgreSQL · Redis · Secrets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42247" y="3457239"/>
            <a:ext cx="1371600" cy="8229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42247" y="3457239"/>
            <a:ext cx="13716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Wave</a:t>
            </a:r>
          </a:p>
          <a:p>
            <a:r>
              <a:t>20-30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6727" y="3457239"/>
            <a:ext cx="3200400" cy="822960"/>
          </a:xfrm>
          <a:prstGeom prst="rect">
            <a:avLst/>
          </a:prstGeom>
          <a:solidFill>
            <a:srgbClr val="F5F5F5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79607" y="3457239"/>
            <a:ext cx="28346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Application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1447" y="3714830"/>
            <a:ext cx="4101353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5C5C5C"/>
                </a:solidFill>
              </a:defRPr>
            </a:pPr>
            <a:r>
              <a:rPr>
                <a:latin typeface="Abadi" panose="020B0604020104020204" pitchFamily="34" charset="77"/>
              </a:rPr>
              <a:t>iso-api · iso-web · Playground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42247" y="4417359"/>
            <a:ext cx="1371600" cy="82296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42247" y="4417359"/>
            <a:ext cx="13716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Wave</a:t>
            </a:r>
          </a:p>
          <a:p>
            <a:r>
              <a:t>40+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96727" y="4417359"/>
            <a:ext cx="3200400" cy="822960"/>
          </a:xfrm>
          <a:prstGeom prst="rect">
            <a:avLst/>
          </a:prstGeom>
          <a:solidFill>
            <a:srgbClr val="F5F5F5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79607" y="4417359"/>
            <a:ext cx="28346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Data Population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1447" y="4674950"/>
            <a:ext cx="4101353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5C5C5C"/>
                </a:solidFill>
              </a:defRPr>
            </a:pPr>
            <a:r>
              <a:rPr>
                <a:latin typeface="Abadi" panose="020B0604020104020204" pitchFamily="34" charset="77"/>
              </a:rPr>
              <a:t>RAG ingestion · Embeddings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rPr dirty="0"/>
              <a:t>OpenShift </a:t>
            </a:r>
            <a:r>
              <a:rPr dirty="0" err="1"/>
              <a:t>GitOps</a:t>
            </a:r>
            <a:r>
              <a:rPr dirty="0"/>
              <a:t> (</a:t>
            </a:r>
            <a:r>
              <a:rPr dirty="0" err="1"/>
              <a:t>ArgoCD</a:t>
            </a:r>
            <a:r>
              <a:rPr dirty="0"/>
              <a:t>) · Declarative · Auditable · Auto-sync · Rollback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58906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76175" y="45720"/>
            <a:ext cx="41348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Enterprise Value Delivered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9589" y="1600200"/>
            <a:ext cx="5029200" cy="1828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3909" y="1783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E0000"/>
                </a:solidFill>
              </a:defRPr>
            </a:pPr>
            <a:r>
              <a:t>Production-Ready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5349" y="22402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Enterprise security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High availability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Auto-scaling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Disaster 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5989" y="1600200"/>
            <a:ext cx="5029200" cy="1828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00309" y="1783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E0000"/>
                </a:solidFill>
              </a:defRPr>
            </a:pPr>
            <a:r>
              <a:t>Operational Excellence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749" y="22402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Full observability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GitOps automation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Zero downtime updates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Compliance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9589" y="3703320"/>
            <a:ext cx="5029200" cy="1828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3909" y="3886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E0000"/>
                </a:solidFill>
              </a:defRPr>
            </a:pPr>
            <a:r>
              <a:t>Developer Productivity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5349" y="43434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OpenAI-compatible API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Multi-model support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Self-service platform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Fast iteration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5989" y="3703320"/>
            <a:ext cx="5029200" cy="1828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0309" y="3886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E0000"/>
                </a:solidFill>
              </a:defRPr>
            </a:pPr>
            <a:r>
              <a:t>Cost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749" y="43434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GPU efficiency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Resource pooling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Usage tracking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On-prem + cloud hybrid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54864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584492" y="45720"/>
            <a:ext cx="47182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US" dirty="0"/>
              <a:t>Red Hat OpenShift AI Platform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05631D8-324D-6350-09A6-53970D37C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553350"/>
              </p:ext>
            </p:extLst>
          </p:nvPr>
        </p:nvGraphicFramePr>
        <p:xfrm>
          <a:off x="1476559" y="1388253"/>
          <a:ext cx="8934082" cy="4531974"/>
        </p:xfrm>
        <a:graphic>
          <a:graphicData uri="http://schemas.openxmlformats.org/drawingml/2006/table">
            <a:tbl>
              <a:tblPr/>
              <a:tblGrid>
                <a:gridCol w="3012254">
                  <a:extLst>
                    <a:ext uri="{9D8B030D-6E8A-4147-A177-3AD203B41FA5}">
                      <a16:colId xmlns:a16="http://schemas.microsoft.com/office/drawing/2014/main" val="1065351690"/>
                    </a:ext>
                  </a:extLst>
                </a:gridCol>
                <a:gridCol w="5921828">
                  <a:extLst>
                    <a:ext uri="{9D8B030D-6E8A-4147-A177-3AD203B41FA5}">
                      <a16:colId xmlns:a16="http://schemas.microsoft.com/office/drawing/2014/main" val="399078353"/>
                    </a:ext>
                  </a:extLst>
                </a:gridCol>
              </a:tblGrid>
              <a:tr h="29678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500" dirty="0"/>
                    </a:p>
                  </a:txBody>
                  <a:tcPr marL="74196" marR="74196" marT="37098" marB="370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500"/>
                        <a:t>URL</a:t>
                      </a:r>
                    </a:p>
                  </a:txBody>
                  <a:tcPr marL="74196" marR="74196" marT="37098" marB="370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297509"/>
                  </a:ext>
                </a:extLst>
              </a:tr>
              <a:tr h="741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500" b="1" dirty="0"/>
                        <a:t>AI Playground</a:t>
                      </a:r>
                      <a:endParaRPr lang="en-IL" sz="1500" dirty="0"/>
                    </a:p>
                  </a:txBody>
                  <a:tcPr marL="74196" marR="74196" marT="37098" marB="370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500" dirty="0">
                          <a:hlinkClick r:id="rId2"/>
                        </a:rPr>
                        <a:t>https://playground-iso-platform.apps.ocp.7hrxw.sandbox880.opentlc.com</a:t>
                      </a:r>
                      <a:endParaRPr lang="en-IL" sz="1500" dirty="0"/>
                    </a:p>
                  </a:txBody>
                  <a:tcPr marL="74196" marR="74196" marT="37098" marB="370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543137"/>
                  </a:ext>
                </a:extLst>
              </a:tr>
              <a:tr h="741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500" b="1" dirty="0"/>
                        <a:t>ISO Compliance App</a:t>
                      </a:r>
                      <a:endParaRPr lang="en-IL" sz="1500" dirty="0"/>
                    </a:p>
                  </a:txBody>
                  <a:tcPr marL="74196" marR="74196" marT="37098" marB="370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500" dirty="0">
                          <a:hlinkClick r:id="rId3"/>
                        </a:rPr>
                        <a:t>https://iso-web-iso-platform.apps.ocp.7hrxw.sandbox880.opentlc.com</a:t>
                      </a:r>
                      <a:endParaRPr lang="en-IL" sz="1500" dirty="0"/>
                    </a:p>
                  </a:txBody>
                  <a:tcPr marL="74196" marR="74196" marT="37098" marB="370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162500"/>
                  </a:ext>
                </a:extLst>
              </a:tr>
              <a:tr h="741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500" b="1" dirty="0"/>
                        <a:t>RHOAI Dashboard</a:t>
                      </a:r>
                      <a:endParaRPr lang="en-IL" sz="1500" dirty="0"/>
                    </a:p>
                  </a:txBody>
                  <a:tcPr marL="74196" marR="74196" marT="37098" marB="370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500" dirty="0">
                          <a:hlinkClick r:id="rId4"/>
                        </a:rPr>
                        <a:t>https://rhods-dashboard-redhat-ods-applications.apps.ocp.7hrxw.sandbox880.opentlc.com</a:t>
                      </a:r>
                      <a:endParaRPr lang="en-IL" sz="1500" dirty="0"/>
                    </a:p>
                  </a:txBody>
                  <a:tcPr marL="74196" marR="74196" marT="37098" marB="370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564887"/>
                  </a:ext>
                </a:extLst>
              </a:tr>
              <a:tr h="741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500" b="1" dirty="0"/>
                        <a:t>Grafana</a:t>
                      </a:r>
                      <a:endParaRPr lang="en-IL" sz="1500" dirty="0"/>
                    </a:p>
                  </a:txBody>
                  <a:tcPr marL="74196" marR="74196" marT="37098" marB="370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500" dirty="0">
                          <a:hlinkClick r:id="rId5"/>
                        </a:rPr>
                        <a:t>https://grafana-route-grafana.apps.ocp.7hrxw.sandbox880.opentlc.com</a:t>
                      </a:r>
                      <a:endParaRPr lang="en-IL" sz="1500" dirty="0"/>
                    </a:p>
                  </a:txBody>
                  <a:tcPr marL="74196" marR="74196" marT="37098" marB="370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172254"/>
                  </a:ext>
                </a:extLst>
              </a:tr>
              <a:tr h="741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500" b="1"/>
                        <a:t>ArgoCD</a:t>
                      </a:r>
                      <a:endParaRPr lang="en-IL" sz="1500"/>
                    </a:p>
                  </a:txBody>
                  <a:tcPr marL="74196" marR="74196" marT="37098" marB="370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500" dirty="0">
                          <a:hlinkClick r:id="rId6"/>
                        </a:rPr>
                        <a:t>https://openshift-gitops-server-openshift-gitops.apps.ocp.7hrxw.sandbox880.opentlc.com</a:t>
                      </a:r>
                      <a:endParaRPr lang="en-IL" sz="1500" dirty="0"/>
                    </a:p>
                  </a:txBody>
                  <a:tcPr marL="74196" marR="74196" marT="37098" marB="370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0921617"/>
                  </a:ext>
                </a:extLst>
              </a:tr>
              <a:tr h="519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500" b="1"/>
                        <a:t>MaaS Gateway</a:t>
                      </a:r>
                      <a:endParaRPr lang="en-IL" sz="1500"/>
                    </a:p>
                  </a:txBody>
                  <a:tcPr marL="74196" marR="74196" marT="37098" marB="370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500" dirty="0">
                          <a:hlinkClick r:id="rId7"/>
                        </a:rPr>
                        <a:t>https://maas.apps.ocp.7hrxw.sandbox880.opentlc.com</a:t>
                      </a:r>
                      <a:endParaRPr lang="en-IL" sz="1500" dirty="0"/>
                    </a:p>
                  </a:txBody>
                  <a:tcPr marL="74196" marR="74196" marT="37098" marB="370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6790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63</TotalTime>
  <Words>661</Words>
  <Application>Microsoft Macintosh PowerPoint</Application>
  <PresentationFormat>Custom</PresentationFormat>
  <Paragraphs>153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Abadi</vt:lpstr>
      <vt:lpstr>Aptos</vt:lpstr>
      <vt:lpstr>Arial</vt:lpstr>
      <vt:lpstr>Calibri</vt:lpstr>
      <vt:lpstr>Red Hat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Yaakov Preiger</cp:lastModifiedBy>
  <cp:revision>5</cp:revision>
  <dcterms:created xsi:type="dcterms:W3CDTF">2013-01-27T09:14:16Z</dcterms:created>
  <dcterms:modified xsi:type="dcterms:W3CDTF">2026-07-24T19:26:55Z</dcterms:modified>
  <cp:category/>
</cp:coreProperties>
</file>