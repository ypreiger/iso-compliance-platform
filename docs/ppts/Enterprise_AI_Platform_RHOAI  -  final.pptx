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61" r:id="rId4"/>
    <p:sldId id="257" r:id="rId5"/>
    <p:sldId id="260" r:id="rId6"/>
    <p:sldId id="259" r:id="rId7"/>
    <p:sldId id="266" r:id="rId8"/>
    <p:sldId id="267" r:id="rId9"/>
    <p:sldId id="262" r:id="rId10"/>
    <p:sldId id="264" r:id="rId11"/>
    <p:sldId id="263" r:id="rId12"/>
    <p:sldId id="265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58"/>
    <p:restoredTop sz="94658"/>
  </p:normalViewPr>
  <p:slideViewPr>
    <p:cSldViewPr snapToGrid="0" snapToObjects="1">
      <p:cViewPr varScale="1">
        <p:scale>
          <a:sx n="118" d="100"/>
          <a:sy n="118" d="100"/>
        </p:scale>
        <p:origin x="224" y="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2E5FA9-43EC-F44A-A671-C9886CAB368B}" type="datetimeFigureOut">
              <a:rPr lang="en-IL" smtClean="0"/>
              <a:t>24/07/2026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ACB7D6-D530-BA4D-A841-146F925B2F5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97851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1" name="Google Shape;9641;g3e28f0adf60_0_88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42" name="Google Shape;9642;g3e28f0adf60_0_88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For becoming an AI provider for your internal users, you need an Enterprise Gen AI Inference platform to optimize and operationalize deployment and scaling of LLMs. This requires:</a:t>
            </a:r>
            <a:endParaRPr>
              <a:solidFill>
                <a:schemeClr val="dk1"/>
              </a:solidFill>
              <a:latin typeface="Red Hat Text"/>
              <a:ea typeface="Red Hat Text"/>
              <a:cs typeface="Red Hat Text"/>
              <a:sym typeface="Red Hat Text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Red Hat Text"/>
              <a:buChar char="●"/>
            </a:pPr>
            <a:r>
              <a:rPr lang="en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Access to accelerated hardware and while NVIDIA leads in this market, there are a growing number of alternatives like AMD, Google, Intel and more that provide great alternatives.</a:t>
            </a:r>
            <a:endParaRPr>
              <a:solidFill>
                <a:schemeClr val="dk1"/>
              </a:solidFill>
              <a:latin typeface="Red Hat Text"/>
              <a:ea typeface="Red Hat Text"/>
              <a:cs typeface="Red Hat Text"/>
              <a:sym typeface="Red Hat Text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Red Hat Text"/>
              <a:buChar char="●"/>
            </a:pPr>
            <a:r>
              <a:rPr lang="en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An inference server is what enables models to run on that hardware, and vLLM has become the de facto industry standard</a:t>
            </a:r>
            <a:endParaRPr>
              <a:solidFill>
                <a:schemeClr val="dk1"/>
              </a:solidFill>
              <a:latin typeface="Red Hat Text"/>
              <a:ea typeface="Red Hat Text"/>
              <a:cs typeface="Red Hat Text"/>
              <a:sym typeface="Red Hat Text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Red Hat Text"/>
              <a:buChar char="●"/>
            </a:pPr>
            <a:r>
              <a:rPr lang="en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In addition to the growing number of models, there are also new and emerging techniques like quantization to optimize those models for inference</a:t>
            </a:r>
            <a:endParaRPr>
              <a:solidFill>
                <a:schemeClr val="dk1"/>
              </a:solidFill>
              <a:latin typeface="Red Hat Text"/>
              <a:ea typeface="Red Hat Text"/>
              <a:cs typeface="Red Hat Text"/>
              <a:sym typeface="Red Hat Text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Red Hat Text"/>
              <a:buChar char="●"/>
            </a:pPr>
            <a:r>
              <a:rPr lang="en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A distributed inference framework allows you to run those models at scale, and llm-d integrates with Kubernetes to do that efficiently</a:t>
            </a:r>
            <a:endParaRPr>
              <a:solidFill>
                <a:schemeClr val="dk1"/>
              </a:solidFill>
              <a:latin typeface="Red Hat Text"/>
              <a:ea typeface="Red Hat Text"/>
              <a:cs typeface="Red Hat Text"/>
              <a:sym typeface="Red Hat Text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Red Hat Text"/>
              <a:buChar char="●"/>
            </a:pPr>
            <a:r>
              <a:rPr lang="en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Finally, an AI Gateway solution allows you to expose model endpoints securely to your end users, control access and meter usage</a:t>
            </a:r>
            <a:endParaRPr>
              <a:solidFill>
                <a:schemeClr val="dk1"/>
              </a:solidFill>
              <a:latin typeface="Red Hat Text"/>
              <a:ea typeface="Red Hat Text"/>
              <a:cs typeface="Red Hat Text"/>
              <a:sym typeface="Red Hat Text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Red Hat Text"/>
              <a:buChar char="●"/>
            </a:pPr>
            <a:r>
              <a:rPr lang="en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This is what we are trying to deliver in Red Hat AI</a:t>
            </a:r>
            <a:endParaRPr>
              <a:solidFill>
                <a:schemeClr val="dk1"/>
              </a:solidFill>
              <a:latin typeface="Red Hat Text"/>
              <a:ea typeface="Red Hat Text"/>
              <a:cs typeface="Red Hat Text"/>
              <a:sym typeface="Red Hat Text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Red Hat Text"/>
              <a:ea typeface="Red Hat Text"/>
              <a:cs typeface="Red Hat Text"/>
              <a:sym typeface="Red Hat Text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ior title">
  <p:cSld name="Interior title">
    <p:spTree>
      <p:nvGrpSpPr>
        <p:cNvPr id="1" name="Shape 4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5" name="Google Shape;4325;p318"/>
          <p:cNvSpPr txBox="1">
            <a:spLocks noGrp="1"/>
          </p:cNvSpPr>
          <p:nvPr>
            <p:ph type="subTitle" idx="1"/>
          </p:nvPr>
        </p:nvSpPr>
        <p:spPr>
          <a:xfrm>
            <a:off x="447658" y="55441"/>
            <a:ext cx="5147559" cy="816300"/>
          </a:xfrm>
          <a:prstGeom prst="rect">
            <a:avLst/>
          </a:prstGeom>
        </p:spPr>
        <p:txBody>
          <a:bodyPr spcFirstLastPara="1" wrap="square" lIns="438900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endParaRPr/>
          </a:p>
        </p:txBody>
      </p:sp>
      <p:cxnSp>
        <p:nvCxnSpPr>
          <p:cNvPr id="4326" name="Google Shape;4326;p318"/>
          <p:cNvCxnSpPr/>
          <p:nvPr/>
        </p:nvCxnSpPr>
        <p:spPr>
          <a:xfrm rot="10800000">
            <a:off x="447658" y="100"/>
            <a:ext cx="0" cy="8865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27" name="Google Shape;4327;p318"/>
          <p:cNvCxnSpPr/>
          <p:nvPr/>
        </p:nvCxnSpPr>
        <p:spPr>
          <a:xfrm rot="10800000">
            <a:off x="447650" y="6401400"/>
            <a:ext cx="0" cy="4566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28" name="Google Shape;4328;p318"/>
          <p:cNvSpPr txBox="1">
            <a:spLocks noGrp="1"/>
          </p:cNvSpPr>
          <p:nvPr>
            <p:ph type="sldNum" idx="12"/>
          </p:nvPr>
        </p:nvSpPr>
        <p:spPr>
          <a:xfrm>
            <a:off x="81954" y="6169556"/>
            <a:ext cx="731509" cy="1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buNone/>
              <a:defRPr sz="800"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lvl="1" algn="ctr">
              <a:buNone/>
              <a:defRPr sz="800"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ctr">
              <a:buNone/>
              <a:defRPr sz="800"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ctr">
              <a:buNone/>
              <a:defRPr sz="800"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ctr">
              <a:buNone/>
              <a:defRPr sz="800"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ctr">
              <a:buNone/>
              <a:defRPr sz="800"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ctr">
              <a:buNone/>
              <a:defRPr sz="800"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ctr">
              <a:buNone/>
              <a:defRPr sz="800"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ctr">
              <a:buNone/>
              <a:defRPr sz="800"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pic>
        <p:nvPicPr>
          <p:cNvPr id="4329" name="Google Shape;4329;p318"/>
          <p:cNvPicPr preferRelativeResize="0"/>
          <p:nvPr/>
        </p:nvPicPr>
        <p:blipFill rotWithShape="1">
          <a:blip r:embed="rId2">
            <a:alphaModFix/>
          </a:blip>
          <a:srcRect t="328" b="318"/>
          <a:stretch/>
        </p:blipFill>
        <p:spPr>
          <a:xfrm>
            <a:off x="10708490" y="6313251"/>
            <a:ext cx="975596" cy="228121"/>
          </a:xfrm>
          <a:prstGeom prst="rect">
            <a:avLst/>
          </a:prstGeom>
          <a:noFill/>
          <a:ln>
            <a:noFill/>
          </a:ln>
        </p:spPr>
      </p:pic>
      <p:sp>
        <p:nvSpPr>
          <p:cNvPr id="4330" name="Google Shape;4330;p318"/>
          <p:cNvSpPr txBox="1">
            <a:spLocks noGrp="1"/>
          </p:cNvSpPr>
          <p:nvPr>
            <p:ph type="subTitle" idx="2"/>
          </p:nvPr>
        </p:nvSpPr>
        <p:spPr>
          <a:xfrm>
            <a:off x="884820" y="6169550"/>
            <a:ext cx="8000416" cy="559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31" name="Google Shape;4331;p318"/>
          <p:cNvSpPr txBox="1">
            <a:spLocks noGrp="1"/>
          </p:cNvSpPr>
          <p:nvPr>
            <p:ph type="title"/>
          </p:nvPr>
        </p:nvSpPr>
        <p:spPr>
          <a:xfrm>
            <a:off x="884819" y="1100350"/>
            <a:ext cx="10419286" cy="55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sz="2799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sz="2599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sz="2599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sz="2599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sz="2599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sz="2599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sz="2599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sz="2599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sz="2599"/>
            </a:lvl9pPr>
          </a:lstStyle>
          <a:p>
            <a:endParaRPr/>
          </a:p>
        </p:txBody>
      </p:sp>
      <p:sp>
        <p:nvSpPr>
          <p:cNvPr id="4332" name="Google Shape;4332;p318"/>
          <p:cNvSpPr txBox="1">
            <a:spLocks noGrp="1"/>
          </p:cNvSpPr>
          <p:nvPr>
            <p:ph type="subTitle" idx="3"/>
          </p:nvPr>
        </p:nvSpPr>
        <p:spPr>
          <a:xfrm>
            <a:off x="884894" y="1653550"/>
            <a:ext cx="10419286" cy="2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799">
                <a:solidFill>
                  <a:schemeClr val="accent1"/>
                </a:solidFill>
              </a:defRPr>
            </a:lvl1pPr>
            <a:lvl2pPr lvl="1" algn="ctr">
              <a:spcBef>
                <a:spcPts val="500"/>
              </a:spcBef>
              <a:spcAft>
                <a:spcPts val="0"/>
              </a:spcAft>
              <a:buNone/>
              <a:defRPr sz="1799">
                <a:solidFill>
                  <a:schemeClr val="accent1"/>
                </a:solidFill>
              </a:defRPr>
            </a:lvl2pPr>
            <a:lvl3pPr lvl="2" algn="ctr">
              <a:spcBef>
                <a:spcPts val="500"/>
              </a:spcBef>
              <a:spcAft>
                <a:spcPts val="0"/>
              </a:spcAft>
              <a:buNone/>
              <a:defRPr sz="1799">
                <a:solidFill>
                  <a:schemeClr val="accent1"/>
                </a:solidFill>
              </a:defRPr>
            </a:lvl3pPr>
            <a:lvl4pPr lvl="3" algn="ctr">
              <a:spcBef>
                <a:spcPts val="500"/>
              </a:spcBef>
              <a:spcAft>
                <a:spcPts val="0"/>
              </a:spcAft>
              <a:buNone/>
              <a:defRPr sz="1799">
                <a:solidFill>
                  <a:schemeClr val="accent1"/>
                </a:solidFill>
              </a:defRPr>
            </a:lvl4pPr>
            <a:lvl5pPr lvl="4" algn="ctr">
              <a:spcBef>
                <a:spcPts val="500"/>
              </a:spcBef>
              <a:spcAft>
                <a:spcPts val="0"/>
              </a:spcAft>
              <a:buNone/>
              <a:defRPr sz="1799">
                <a:solidFill>
                  <a:schemeClr val="accent1"/>
                </a:solidFill>
              </a:defRPr>
            </a:lvl5pPr>
            <a:lvl6pPr lvl="5" algn="ctr">
              <a:spcBef>
                <a:spcPts val="500"/>
              </a:spcBef>
              <a:spcAft>
                <a:spcPts val="0"/>
              </a:spcAft>
              <a:buNone/>
              <a:defRPr sz="1799">
                <a:solidFill>
                  <a:schemeClr val="accent1"/>
                </a:solidFill>
              </a:defRPr>
            </a:lvl6pPr>
            <a:lvl7pPr lvl="6" algn="ctr">
              <a:spcBef>
                <a:spcPts val="500"/>
              </a:spcBef>
              <a:spcAft>
                <a:spcPts val="0"/>
              </a:spcAft>
              <a:buNone/>
              <a:defRPr sz="1799">
                <a:solidFill>
                  <a:schemeClr val="accent1"/>
                </a:solidFill>
              </a:defRPr>
            </a:lvl7pPr>
            <a:lvl8pPr lvl="7" algn="ctr">
              <a:spcBef>
                <a:spcPts val="500"/>
              </a:spcBef>
              <a:spcAft>
                <a:spcPts val="0"/>
              </a:spcAft>
              <a:buNone/>
              <a:defRPr sz="1799">
                <a:solidFill>
                  <a:schemeClr val="accent1"/>
                </a:solidFill>
              </a:defRPr>
            </a:lvl8pPr>
            <a:lvl9pPr lvl="8" algn="ctr">
              <a:spcBef>
                <a:spcPts val="500"/>
              </a:spcBef>
              <a:spcAft>
                <a:spcPts val="500"/>
              </a:spcAft>
              <a:buNone/>
              <a:defRPr sz="1799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11954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46991" y="1331259"/>
            <a:ext cx="10694851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000000"/>
                </a:solidFill>
              </a:defRPr>
            </a:pPr>
            <a:r>
              <a:rPr dirty="0"/>
              <a:t>Enterprise-Grade AI</a:t>
            </a:r>
            <a:r>
              <a:rPr lang="en-US" dirty="0"/>
              <a:t> Agentic App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2842946" y="2519979"/>
            <a:ext cx="650293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5C5C5C"/>
                </a:solidFill>
              </a:defRPr>
            </a:pPr>
            <a:r>
              <a:rPr lang="en-US" dirty="0"/>
              <a:t>On </a:t>
            </a:r>
            <a:r>
              <a:rPr dirty="0"/>
              <a:t>Red Hat OpenShift AI</a:t>
            </a:r>
            <a:r>
              <a:rPr lang="en-US" dirty="0"/>
              <a:t> Platform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2168786" y="3617259"/>
            <a:ext cx="785125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C5C5C"/>
                </a:solidFill>
              </a:defRPr>
            </a:pPr>
            <a:r>
              <a:rPr dirty="0"/>
              <a:t>Model as a Service  · Guardrails  · RAG  ·  </a:t>
            </a:r>
            <a:r>
              <a:rPr dirty="0" err="1"/>
              <a:t>GitOps</a:t>
            </a:r>
            <a:r>
              <a:rPr dirty="0"/>
              <a:t>  ·  Enterprise </a:t>
            </a:r>
            <a:r>
              <a:rPr lang="en-US" dirty="0"/>
              <a:t>Architecture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A8DF7A-55F3-C00C-D110-59CB81493439}"/>
              </a:ext>
            </a:extLst>
          </p:cNvPr>
          <p:cNvSpPr txBox="1"/>
          <p:nvPr/>
        </p:nvSpPr>
        <p:spPr>
          <a:xfrm>
            <a:off x="3425174" y="4784266"/>
            <a:ext cx="5311582" cy="143116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C5C5C"/>
                </a:solidFill>
              </a:defRPr>
            </a:pPr>
            <a:r>
              <a:rPr lang="en-US" dirty="0"/>
              <a:t>AI Engineering course – class #7 - February 2026</a:t>
            </a:r>
          </a:p>
          <a:p>
            <a:pPr algn="ctr">
              <a:defRPr sz="2000">
                <a:solidFill>
                  <a:srgbClr val="5C5C5C"/>
                </a:solidFill>
              </a:defRPr>
            </a:pPr>
            <a:r>
              <a:rPr lang="en-IL" sz="2700" dirty="0"/>
              <a:t>The Hebrew University of Jerusalem</a:t>
            </a:r>
            <a:r>
              <a:rPr lang="en-US" sz="2700" dirty="0"/>
              <a:t> </a:t>
            </a:r>
          </a:p>
          <a:p>
            <a:pPr algn="ctr">
              <a:defRPr sz="2000">
                <a:solidFill>
                  <a:srgbClr val="5C5C5C"/>
                </a:solidFill>
              </a:defRPr>
            </a:pPr>
            <a:endParaRPr lang="en-US" dirty="0"/>
          </a:p>
          <a:p>
            <a:pPr algn="ctr">
              <a:defRPr sz="2000">
                <a:solidFill>
                  <a:srgbClr val="5C5C5C"/>
                </a:solidFill>
              </a:defRPr>
            </a:pPr>
            <a:r>
              <a:rPr lang="en-US" dirty="0"/>
              <a:t>By Yaakov Preiger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66974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298722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rPr dirty="0"/>
              <a:t>Architecture</a:t>
            </a:r>
            <a:r>
              <a:rPr lang="en-US" dirty="0"/>
              <a:t> layers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1385047" y="1344706"/>
            <a:ext cx="9144000" cy="73152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567927" y="1436146"/>
            <a:ext cx="27432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Application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85447" y="1556577"/>
            <a:ext cx="4143635" cy="30777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rPr dirty="0"/>
              <a:t>iso-web  ·  iso-</a:t>
            </a:r>
            <a:r>
              <a:rPr dirty="0" err="1"/>
              <a:t>api</a:t>
            </a:r>
            <a:r>
              <a:rPr dirty="0"/>
              <a:t>  ·  AI Playground</a:t>
            </a:r>
            <a:r>
              <a:rPr lang="en-IL" dirty="0"/>
              <a:t> · functioonal agents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1385047" y="2259106"/>
            <a:ext cx="9144000" cy="109728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67927" y="2350546"/>
            <a:ext cx="2743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Model as a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5447" y="2350546"/>
            <a:ext cx="5486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rPr dirty="0"/>
              <a:t>GPT-oss-20b (21B </a:t>
            </a:r>
            <a:r>
              <a:rPr dirty="0" err="1"/>
              <a:t>MoE</a:t>
            </a:r>
            <a:r>
              <a:rPr dirty="0"/>
              <a:t>)  ·  BGE-M3 Embeddings  ·  Qwen3-4B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85047" y="4453666"/>
            <a:ext cx="9144000" cy="73152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67927" y="4545106"/>
            <a:ext cx="27432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Inference &amp; Serving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5447" y="4665537"/>
            <a:ext cx="2994859" cy="30777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rPr dirty="0" err="1"/>
              <a:t>KServe</a:t>
            </a:r>
            <a:r>
              <a:rPr dirty="0"/>
              <a:t>  ·  </a:t>
            </a:r>
            <a:r>
              <a:rPr dirty="0" err="1"/>
              <a:t>vLLM</a:t>
            </a:r>
            <a:r>
              <a:rPr dirty="0"/>
              <a:t>  ·  </a:t>
            </a:r>
            <a:r>
              <a:rPr dirty="0" err="1"/>
              <a:t>LLMInferenceService</a:t>
            </a:r>
            <a:endParaRPr dirty="0"/>
          </a:p>
        </p:txBody>
      </p:sp>
      <p:sp>
        <p:nvSpPr>
          <p:cNvPr id="13" name="Rectangle 12"/>
          <p:cNvSpPr/>
          <p:nvPr/>
        </p:nvSpPr>
        <p:spPr>
          <a:xfrm>
            <a:off x="1385047" y="3539266"/>
            <a:ext cx="9144000" cy="731520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567927" y="3630706"/>
            <a:ext cx="27432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AI Governance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5447" y="3630706"/>
            <a:ext cx="5486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TrustyAI  ·  Guardrails Orchestrator  ·  Kuadrant + Authorino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85047" y="5459506"/>
            <a:ext cx="9144000" cy="731520"/>
          </a:xfrm>
          <a:prstGeom prst="rect">
            <a:avLst/>
          </a:prstGeom>
          <a:solidFill>
            <a:srgbClr val="5C5C5C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67927" y="5550946"/>
            <a:ext cx="27432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5447" y="5671377"/>
            <a:ext cx="4658648" cy="30777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rPr dirty="0"/>
              <a:t>OpenShift 4.</a:t>
            </a:r>
            <a:r>
              <a:rPr lang="en-US" dirty="0"/>
              <a:t>20</a:t>
            </a:r>
            <a:r>
              <a:rPr dirty="0"/>
              <a:t>  ·  </a:t>
            </a:r>
            <a:r>
              <a:rPr lang="en-US" dirty="0"/>
              <a:t>OpenShift AI 3.5</a:t>
            </a:r>
            <a:r>
              <a:rPr dirty="0"/>
              <a:t>  ·  GPU Nodes (NVIDIA L40)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"/>
            <a:ext cx="12188825" cy="618565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76517" y="45720"/>
            <a:ext cx="353417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lang="en-US" dirty="0"/>
              <a:t>What application does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54864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rPr lang="en-US" dirty="0"/>
              <a:t>Red Hat OpenShift AI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748118"/>
            <a:ext cx="3200400" cy="3657600"/>
          </a:xfrm>
          <a:prstGeom prst="roundRect">
            <a:avLst/>
          </a:prstGeom>
          <a:solidFill>
            <a:srgbClr val="0066CC"/>
          </a:solidFill>
          <a:ln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022438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Model Serving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845398"/>
            <a:ext cx="2651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KServe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vLLM Runtime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LLMInferenceService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Auto-scaling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748118"/>
            <a:ext cx="3200400" cy="3657600"/>
          </a:xfrm>
          <a:prstGeom prst="roundRect">
            <a:avLst/>
          </a:prstGeom>
          <a:solidFill>
            <a:srgbClr val="7030A0"/>
          </a:solidFill>
          <a:ln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63440" y="2022438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AI Governance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845398"/>
            <a:ext cx="2651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TrustyAI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Guardrails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Bias Detection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Audit Logs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748118"/>
            <a:ext cx="3200400" cy="3657600"/>
          </a:xfrm>
          <a:prstGeom prst="roundRect">
            <a:avLst/>
          </a:prstGeom>
          <a:solidFill>
            <a:srgbClr val="92D050"/>
          </a:solidFill>
          <a:ln>
            <a:solidFill>
              <a:srgbClr val="92D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0" y="2022438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Developer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845398"/>
            <a:ext cx="2651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Jupyter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Pipelines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Model Registry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GitOps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12" cy="63201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190570" y="45720"/>
            <a:ext cx="550605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dirty="0"/>
              <a:t>Model as a Service (</a:t>
            </a:r>
            <a:r>
              <a:rPr dirty="0" err="1"/>
              <a:t>MaaS</a:t>
            </a:r>
            <a:r>
              <a:rPr dirty="0"/>
              <a:t>) Gateway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26344" y="1707776"/>
            <a:ext cx="5446056" cy="852544"/>
          </a:xfrm>
          <a:prstGeom prst="round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2326344" y="1779061"/>
            <a:ext cx="5446056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2400"/>
              <a:t>Application</a:t>
            </a:r>
          </a:p>
          <a:p>
            <a:pPr algn="ctr"/>
            <a:r>
              <a:rPr sz="2400"/>
              <a:t>(iso-api, playground)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2560320"/>
            <a:ext cx="0" cy="365760"/>
          </a:xfrm>
          <a:prstGeom prst="line">
            <a:avLst/>
          </a:prstGeom>
          <a:ln w="38100">
            <a:solidFill>
              <a:srgbClr val="5C5C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326344" y="2805056"/>
            <a:ext cx="5446056" cy="852544"/>
          </a:xfrm>
          <a:prstGeom prst="round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2326344" y="2876341"/>
            <a:ext cx="5446056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2400"/>
              <a:t>MaaS Gateway</a:t>
            </a:r>
          </a:p>
          <a:p>
            <a:pPr algn="ctr"/>
            <a:r>
              <a:rPr sz="2400"/>
              <a:t>(Kuadrant + Authorino)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3657600"/>
            <a:ext cx="0" cy="365760"/>
          </a:xfrm>
          <a:prstGeom prst="line">
            <a:avLst/>
          </a:prstGeom>
          <a:ln w="38100">
            <a:solidFill>
              <a:srgbClr val="5C5C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26344" y="3902336"/>
            <a:ext cx="5446056" cy="852544"/>
          </a:xfrm>
          <a:prstGeom prst="round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2326344" y="3973621"/>
            <a:ext cx="5446056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2400"/>
              <a:t>TrustyAI</a:t>
            </a:r>
          </a:p>
          <a:p>
            <a:pPr algn="ctr"/>
            <a:r>
              <a:rPr sz="2400"/>
              <a:t>(Observability &amp; Guardrails)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4754880"/>
            <a:ext cx="0" cy="365760"/>
          </a:xfrm>
          <a:prstGeom prst="line">
            <a:avLst/>
          </a:prstGeom>
          <a:ln w="38100">
            <a:solidFill>
              <a:srgbClr val="5C5C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326344" y="4999616"/>
            <a:ext cx="5446056" cy="852544"/>
          </a:xfrm>
          <a:prstGeom prst="round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2326344" y="5070901"/>
            <a:ext cx="5446056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2400" dirty="0"/>
              <a:t>Model Inference</a:t>
            </a:r>
          </a:p>
          <a:p>
            <a:pPr algn="ctr"/>
            <a:r>
              <a:rPr sz="2400" dirty="0"/>
              <a:t>(</a:t>
            </a:r>
            <a:r>
              <a:rPr sz="2400" dirty="0" err="1"/>
              <a:t>vLLM</a:t>
            </a:r>
            <a:r>
              <a:rPr sz="2400" dirty="0"/>
              <a:t> on GPU)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82880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EE0000"/>
                </a:solidFill>
              </a:defRPr>
            </a:pPr>
            <a:r>
              <a:rPr dirty="0" err="1"/>
              <a:t>MaaS</a:t>
            </a:r>
            <a:r>
              <a:rPr dirty="0"/>
              <a:t> Benefits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/>
              <a:t>✓ OpenAI-compatible API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/>
              <a:t>✓ Multi-tenancy &amp; quotas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/>
              <a:t>✓ JWT authentication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/>
              <a:t>✓ Rate limiting per tier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/>
              <a:t>✓ Request/response logging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/>
              <a:t>✓ Bias detection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rPr dirty="0"/>
              <a:t>✓ Content guardrails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"/>
            <a:ext cx="12188825" cy="618565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95393" y="45720"/>
            <a:ext cx="609641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dirty="0"/>
              <a:t>Infrastructure &amp; Resource Management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5029200" cy="4114800"/>
          </a:xfrm>
          <a:prstGeom prst="roundRect">
            <a:avLst/>
          </a:prstGeom>
          <a:solidFill>
            <a:srgbClr val="E6F0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20116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66CC"/>
                </a:solidFill>
              </a:defRPr>
            </a:pPr>
            <a:r>
              <a:t>OpenShift Container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45720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Namespace Isolation (iso-platform, </a:t>
            </a:r>
            <a:r>
              <a:rPr sz="1600" dirty="0" err="1"/>
              <a:t>llm</a:t>
            </a:r>
            <a:r>
              <a:rPr sz="1600" dirty="0"/>
              <a:t>, </a:t>
            </a:r>
            <a:r>
              <a:rPr sz="1600" dirty="0" err="1"/>
              <a:t>grafana</a:t>
            </a:r>
            <a:r>
              <a:rPr sz="1600" dirty="0"/>
              <a:t>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RBAC &amp; </a:t>
            </a:r>
            <a:r>
              <a:rPr sz="1600" dirty="0" err="1"/>
              <a:t>ServiceAccounts</a:t>
            </a:r>
            <a:endParaRPr sz="1600" dirty="0"/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Routes (TLS edge termination)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GPU Node Scheduling (L40 48GB VRAM)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</a:t>
            </a:r>
            <a:r>
              <a:rPr sz="1600" dirty="0" err="1"/>
              <a:t>StatefulSets</a:t>
            </a:r>
            <a:r>
              <a:rPr sz="1600" dirty="0"/>
              <a:t> (PostgreSQL + </a:t>
            </a:r>
            <a:r>
              <a:rPr sz="1600" dirty="0" err="1"/>
              <a:t>pgvector</a:t>
            </a:r>
            <a:r>
              <a:rPr sz="1600" dirty="0"/>
              <a:t>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</a:t>
            </a:r>
            <a:r>
              <a:rPr sz="1600" dirty="0" err="1"/>
              <a:t>ConfigMaps</a:t>
            </a:r>
            <a:r>
              <a:rPr sz="1600" dirty="0"/>
              <a:t> &amp; Secrets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5029200" cy="4114800"/>
          </a:xfrm>
          <a:prstGeom prst="roundRect">
            <a:avLst/>
          </a:prstGeom>
          <a:solidFill>
            <a:srgbClr val="FFF0F0"/>
          </a:solidFill>
          <a:ln w="25400">
            <a:solidFill>
              <a:srgbClr val="E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20116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E0000"/>
                </a:solidFill>
              </a:defRPr>
            </a:pPr>
            <a:r>
              <a:t>Red Hat OpenShift AI Operator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743200"/>
            <a:ext cx="3818965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Model Serving (</a:t>
            </a:r>
            <a:r>
              <a:rPr sz="1600" dirty="0" err="1"/>
              <a:t>KServe</a:t>
            </a:r>
            <a:r>
              <a:rPr sz="1600" dirty="0"/>
              <a:t>, </a:t>
            </a:r>
            <a:r>
              <a:rPr sz="1600" dirty="0" err="1"/>
              <a:t>vLLM</a:t>
            </a:r>
            <a:r>
              <a:rPr sz="1600" dirty="0"/>
              <a:t>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</a:t>
            </a:r>
            <a:r>
              <a:rPr sz="1600" dirty="0" err="1"/>
              <a:t>MaaS</a:t>
            </a:r>
            <a:r>
              <a:rPr sz="1600" dirty="0"/>
              <a:t> Gateway (</a:t>
            </a:r>
            <a:r>
              <a:rPr sz="1600" dirty="0" err="1"/>
              <a:t>Kuadrant</a:t>
            </a:r>
            <a:r>
              <a:rPr sz="1600" dirty="0"/>
              <a:t> API </a:t>
            </a:r>
            <a:r>
              <a:rPr sz="1600" dirty="0" err="1"/>
              <a:t>mgmt</a:t>
            </a:r>
            <a:r>
              <a:rPr sz="1600" dirty="0"/>
              <a:t>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</a:t>
            </a:r>
            <a:r>
              <a:rPr sz="1600" dirty="0" err="1"/>
              <a:t>TrustyAI</a:t>
            </a:r>
            <a:r>
              <a:rPr sz="1600" dirty="0"/>
              <a:t> Service (Observability)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Ray Operator (Distributed ML)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</a:t>
            </a:r>
            <a:r>
              <a:rPr sz="1600" dirty="0" err="1"/>
              <a:t>MLflow</a:t>
            </a:r>
            <a:r>
              <a:rPr sz="1600" dirty="0"/>
              <a:t> (Experiment Tracking)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Data Science Pipelines (</a:t>
            </a:r>
            <a:r>
              <a:rPr sz="1600" dirty="0" err="1"/>
              <a:t>Tekton</a:t>
            </a:r>
            <a:r>
              <a:rPr sz="1600" dirty="0"/>
              <a:t>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CED90-8A52-21BA-A161-E578EF568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6440AD3-21C9-32EA-4A4A-0738EEAD46EF}"/>
              </a:ext>
            </a:extLst>
          </p:cNvPr>
          <p:cNvSpPr/>
          <p:nvPr/>
        </p:nvSpPr>
        <p:spPr>
          <a:xfrm>
            <a:off x="0" y="-1"/>
            <a:ext cx="12188825" cy="618565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2499B8-0E0B-0535-9F72-01D2E9D8B6BB}"/>
              </a:ext>
            </a:extLst>
          </p:cNvPr>
          <p:cNvSpPr txBox="1"/>
          <p:nvPr/>
        </p:nvSpPr>
        <p:spPr>
          <a:xfrm>
            <a:off x="3154154" y="45720"/>
            <a:ext cx="557890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dirty="0"/>
              <a:t>Enterprise </a:t>
            </a:r>
            <a:r>
              <a:rPr lang="en-US" dirty="0"/>
              <a:t>GenAI Inference platform</a:t>
            </a:r>
            <a:endParaRPr dirty="0"/>
          </a:p>
        </p:txBody>
      </p:sp>
      <p:sp>
        <p:nvSpPr>
          <p:cNvPr id="4" name="Google Shape;9644;p781">
            <a:extLst>
              <a:ext uri="{FF2B5EF4-FFF2-40B4-BE49-F238E27FC236}">
                <a16:creationId xmlns:a16="http://schemas.microsoft.com/office/drawing/2014/main" id="{A15A1FCD-DB22-0CDB-68D0-FA392C12B737}"/>
              </a:ext>
            </a:extLst>
          </p:cNvPr>
          <p:cNvSpPr/>
          <p:nvPr/>
        </p:nvSpPr>
        <p:spPr>
          <a:xfrm>
            <a:off x="792594" y="1270041"/>
            <a:ext cx="7998900" cy="389100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F2F2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00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grpSp>
        <p:nvGrpSpPr>
          <p:cNvPr id="5" name="Google Shape;9648;p781">
            <a:extLst>
              <a:ext uri="{FF2B5EF4-FFF2-40B4-BE49-F238E27FC236}">
                <a16:creationId xmlns:a16="http://schemas.microsoft.com/office/drawing/2014/main" id="{2CCFBA1A-1543-2299-8A98-FE44A1B4800B}"/>
              </a:ext>
            </a:extLst>
          </p:cNvPr>
          <p:cNvGrpSpPr/>
          <p:nvPr/>
        </p:nvGrpSpPr>
        <p:grpSpPr>
          <a:xfrm>
            <a:off x="6249859" y="1637843"/>
            <a:ext cx="1226932" cy="617640"/>
            <a:chOff x="2923075" y="1827749"/>
            <a:chExt cx="920222" cy="463242"/>
          </a:xfrm>
        </p:grpSpPr>
        <p:sp>
          <p:nvSpPr>
            <p:cNvPr id="6" name="Google Shape;9649;p781">
              <a:extLst>
                <a:ext uri="{FF2B5EF4-FFF2-40B4-BE49-F238E27FC236}">
                  <a16:creationId xmlns:a16="http://schemas.microsoft.com/office/drawing/2014/main" id="{8029A096-0EB2-5EDF-2618-BDFB60B4D65A}"/>
                </a:ext>
              </a:extLst>
            </p:cNvPr>
            <p:cNvSpPr/>
            <p:nvPr/>
          </p:nvSpPr>
          <p:spPr>
            <a:xfrm>
              <a:off x="2923075" y="1927091"/>
              <a:ext cx="816600" cy="363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  <a:effectLst>
              <a:outerShdw blurRad="76200" dist="2540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00" b="1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pic>
          <p:nvPicPr>
            <p:cNvPr id="7" name="Google Shape;9650;p781">
              <a:extLst>
                <a:ext uri="{FF2B5EF4-FFF2-40B4-BE49-F238E27FC236}">
                  <a16:creationId xmlns:a16="http://schemas.microsoft.com/office/drawing/2014/main" id="{FFD83305-36FA-ACFF-198F-78531E1DEB0E}"/>
                </a:ext>
              </a:extLst>
            </p:cNvPr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3044521" y="2021331"/>
              <a:ext cx="573618" cy="1753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9651;p781">
              <a:extLst>
                <a:ext uri="{FF2B5EF4-FFF2-40B4-BE49-F238E27FC236}">
                  <a16:creationId xmlns:a16="http://schemas.microsoft.com/office/drawing/2014/main" id="{B54A4EEB-5882-EEC9-9FCF-AFA71AD44CFE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618149" y="1827749"/>
              <a:ext cx="225148" cy="218925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9" name="Google Shape;9652;p781">
            <a:extLst>
              <a:ext uri="{FF2B5EF4-FFF2-40B4-BE49-F238E27FC236}">
                <a16:creationId xmlns:a16="http://schemas.microsoft.com/office/drawing/2014/main" id="{C1083607-C908-B384-1573-F43B4AAD33CF}"/>
              </a:ext>
            </a:extLst>
          </p:cNvPr>
          <p:cNvCxnSpPr>
            <a:stCxn id="6" idx="2"/>
            <a:endCxn id="23" idx="0"/>
          </p:cNvCxnSpPr>
          <p:nvPr/>
        </p:nvCxnSpPr>
        <p:spPr>
          <a:xfrm rot="5400000">
            <a:off x="5889295" y="1808333"/>
            <a:ext cx="457800" cy="1352100"/>
          </a:xfrm>
          <a:prstGeom prst="bentConnector3">
            <a:avLst>
              <a:gd name="adj1" fmla="val 49988"/>
            </a:avLst>
          </a:prstGeom>
          <a:noFill/>
          <a:ln w="127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0" name="Google Shape;9654;p781">
            <a:extLst>
              <a:ext uri="{FF2B5EF4-FFF2-40B4-BE49-F238E27FC236}">
                <a16:creationId xmlns:a16="http://schemas.microsoft.com/office/drawing/2014/main" id="{6D05DAF1-607A-DFF7-9C57-A35DD428C959}"/>
              </a:ext>
            </a:extLst>
          </p:cNvPr>
          <p:cNvCxnSpPr>
            <a:stCxn id="6" idx="2"/>
            <a:endCxn id="13" idx="0"/>
          </p:cNvCxnSpPr>
          <p:nvPr/>
        </p:nvCxnSpPr>
        <p:spPr>
          <a:xfrm rot="-5400000" flipH="1">
            <a:off x="6565645" y="2484083"/>
            <a:ext cx="457800" cy="600"/>
          </a:xfrm>
          <a:prstGeom prst="bentConnector3">
            <a:avLst>
              <a:gd name="adj1" fmla="val 49988"/>
            </a:avLst>
          </a:prstGeom>
          <a:noFill/>
          <a:ln w="127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1" name="Google Shape;9656;p781">
            <a:extLst>
              <a:ext uri="{FF2B5EF4-FFF2-40B4-BE49-F238E27FC236}">
                <a16:creationId xmlns:a16="http://schemas.microsoft.com/office/drawing/2014/main" id="{997FEBD1-0E09-FBB7-6790-1874D74B87C1}"/>
              </a:ext>
            </a:extLst>
          </p:cNvPr>
          <p:cNvCxnSpPr>
            <a:stCxn id="6" idx="2"/>
            <a:endCxn id="33" idx="0"/>
          </p:cNvCxnSpPr>
          <p:nvPr/>
        </p:nvCxnSpPr>
        <p:spPr>
          <a:xfrm rot="-5400000" flipH="1">
            <a:off x="7241095" y="1808633"/>
            <a:ext cx="457800" cy="1351500"/>
          </a:xfrm>
          <a:prstGeom prst="bentConnector3">
            <a:avLst>
              <a:gd name="adj1" fmla="val 49988"/>
            </a:avLst>
          </a:prstGeom>
          <a:noFill/>
          <a:ln w="127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grpSp>
        <p:nvGrpSpPr>
          <p:cNvPr id="12" name="Google Shape;9658;p781">
            <a:extLst>
              <a:ext uri="{FF2B5EF4-FFF2-40B4-BE49-F238E27FC236}">
                <a16:creationId xmlns:a16="http://schemas.microsoft.com/office/drawing/2014/main" id="{A6ADBAF7-8248-8680-978D-DFCC9E1C5F47}"/>
              </a:ext>
            </a:extLst>
          </p:cNvPr>
          <p:cNvGrpSpPr/>
          <p:nvPr/>
        </p:nvGrpSpPr>
        <p:grpSpPr>
          <a:xfrm>
            <a:off x="6174522" y="2713175"/>
            <a:ext cx="1240369" cy="2511937"/>
            <a:chOff x="4525523" y="2356463"/>
            <a:chExt cx="930300" cy="1884000"/>
          </a:xfrm>
        </p:grpSpPr>
        <p:sp>
          <p:nvSpPr>
            <p:cNvPr id="13" name="Google Shape;9655;p781">
              <a:extLst>
                <a:ext uri="{FF2B5EF4-FFF2-40B4-BE49-F238E27FC236}">
                  <a16:creationId xmlns:a16="http://schemas.microsoft.com/office/drawing/2014/main" id="{85D2289A-E2A1-1778-066B-70AFBA18082A}"/>
                </a:ext>
              </a:extLst>
            </p:cNvPr>
            <p:cNvSpPr/>
            <p:nvPr/>
          </p:nvSpPr>
          <p:spPr>
            <a:xfrm>
              <a:off x="4525523" y="2356463"/>
              <a:ext cx="930300" cy="188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>
              <a:outerShdw blurRad="76200" dist="2540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b="1">
                  <a:solidFill>
                    <a:schemeClr val="lt1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Pod 2</a:t>
              </a:r>
              <a:endParaRPr sz="1200" b="1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4" name="Google Shape;9659;p781">
              <a:extLst>
                <a:ext uri="{FF2B5EF4-FFF2-40B4-BE49-F238E27FC236}">
                  <a16:creationId xmlns:a16="http://schemas.microsoft.com/office/drawing/2014/main" id="{BFFDCB9B-9CFA-91A8-C66B-BE57C8D92433}"/>
                </a:ext>
              </a:extLst>
            </p:cNvPr>
            <p:cNvSpPr/>
            <p:nvPr/>
          </p:nvSpPr>
          <p:spPr>
            <a:xfrm>
              <a:off x="4561298" y="2565903"/>
              <a:ext cx="858900" cy="2919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5" name="Google Shape;9660;p781">
              <a:extLst>
                <a:ext uri="{FF2B5EF4-FFF2-40B4-BE49-F238E27FC236}">
                  <a16:creationId xmlns:a16="http://schemas.microsoft.com/office/drawing/2014/main" id="{DC8F159E-9774-652E-CEE4-55918E291C5D}"/>
                </a:ext>
              </a:extLst>
            </p:cNvPr>
            <p:cNvSpPr/>
            <p:nvPr/>
          </p:nvSpPr>
          <p:spPr>
            <a:xfrm>
              <a:off x="4561298" y="3065173"/>
              <a:ext cx="858900" cy="2919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grpSp>
          <p:nvGrpSpPr>
            <p:cNvPr id="16" name="Google Shape;9661;p781">
              <a:extLst>
                <a:ext uri="{FF2B5EF4-FFF2-40B4-BE49-F238E27FC236}">
                  <a16:creationId xmlns:a16="http://schemas.microsoft.com/office/drawing/2014/main" id="{E9A2B743-C493-9FE6-BF16-6D6CBFC6FDDD}"/>
                </a:ext>
              </a:extLst>
            </p:cNvPr>
            <p:cNvGrpSpPr/>
            <p:nvPr/>
          </p:nvGrpSpPr>
          <p:grpSpPr>
            <a:xfrm>
              <a:off x="4561298" y="3545131"/>
              <a:ext cx="858825" cy="414900"/>
              <a:chOff x="2344800" y="5011513"/>
              <a:chExt cx="1145100" cy="553200"/>
            </a:xfrm>
          </p:grpSpPr>
          <p:sp>
            <p:nvSpPr>
              <p:cNvPr id="19" name="Google Shape;9662;p781">
                <a:extLst>
                  <a:ext uri="{FF2B5EF4-FFF2-40B4-BE49-F238E27FC236}">
                    <a16:creationId xmlns:a16="http://schemas.microsoft.com/office/drawing/2014/main" id="{32678D2C-5E1A-AB2F-3D6B-2A4B043F812D}"/>
                  </a:ext>
                </a:extLst>
              </p:cNvPr>
              <p:cNvSpPr/>
              <p:nvPr/>
            </p:nvSpPr>
            <p:spPr>
              <a:xfrm>
                <a:off x="2344800" y="5011513"/>
                <a:ext cx="1145100" cy="553200"/>
              </a:xfrm>
              <a:prstGeom prst="roundRect">
                <a:avLst>
                  <a:gd name="adj" fmla="val 16667"/>
                </a:avLst>
              </a:prstGeom>
              <a:solidFill>
                <a:schemeClr val="lt1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latin typeface="Red Hat Display"/>
                  <a:ea typeface="Red Hat Display"/>
                  <a:cs typeface="Red Hat Display"/>
                  <a:sym typeface="Red Hat Display"/>
                </a:endParaRPr>
              </a:p>
            </p:txBody>
          </p:sp>
          <p:pic>
            <p:nvPicPr>
              <p:cNvPr id="20" name="Google Shape;9663;p781">
                <a:extLst>
                  <a:ext uri="{FF2B5EF4-FFF2-40B4-BE49-F238E27FC236}">
                    <a16:creationId xmlns:a16="http://schemas.microsoft.com/office/drawing/2014/main" id="{4551AB2A-B32A-F3F5-E670-661B70885118}"/>
                  </a:ext>
                </a:extLst>
              </p:cNvPr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591147" y="5049165"/>
                <a:ext cx="652406" cy="4026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1" name="Google Shape;9664;p781">
                <a:extLst>
                  <a:ext uri="{FF2B5EF4-FFF2-40B4-BE49-F238E27FC236}">
                    <a16:creationId xmlns:a16="http://schemas.microsoft.com/office/drawing/2014/main" id="{44D9F230-EDC0-DE88-13A6-FB56E524D007}"/>
                  </a:ext>
                </a:extLst>
              </p:cNvPr>
              <p:cNvSpPr txBox="1"/>
              <p:nvPr/>
            </p:nvSpPr>
            <p:spPr>
              <a:xfrm>
                <a:off x="2485950" y="5320597"/>
                <a:ext cx="862800" cy="226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latin typeface="Red Hat Display"/>
                    <a:ea typeface="Red Hat Display"/>
                    <a:cs typeface="Red Hat Display"/>
                    <a:sym typeface="Red Hat Display"/>
                  </a:rPr>
                  <a:t>Instinct</a:t>
                </a:r>
                <a:endParaRPr sz="1200">
                  <a:latin typeface="Red Hat Display"/>
                  <a:ea typeface="Red Hat Display"/>
                  <a:cs typeface="Red Hat Display"/>
                  <a:sym typeface="Red Hat Display"/>
                </a:endParaRPr>
              </a:p>
            </p:txBody>
          </p:sp>
        </p:grpSp>
        <p:pic>
          <p:nvPicPr>
            <p:cNvPr id="17" name="Google Shape;9665;p781">
              <a:extLst>
                <a:ext uri="{FF2B5EF4-FFF2-40B4-BE49-F238E27FC236}">
                  <a16:creationId xmlns:a16="http://schemas.microsoft.com/office/drawing/2014/main" id="{E09617FD-9110-9153-8CBC-8899B13AA245}"/>
                </a:ext>
              </a:extLst>
            </p:cNvPr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631964" y="3108261"/>
              <a:ext cx="717491" cy="2056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" name="Google Shape;9666;p781">
              <a:extLst>
                <a:ext uri="{FF2B5EF4-FFF2-40B4-BE49-F238E27FC236}">
                  <a16:creationId xmlns:a16="http://schemas.microsoft.com/office/drawing/2014/main" id="{4668BF11-0100-A0E0-2F51-488BDEE2EB54}"/>
                </a:ext>
              </a:extLst>
            </p:cNvPr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4684543" y="2601315"/>
              <a:ext cx="647045" cy="21892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" name="Google Shape;9667;p781">
            <a:extLst>
              <a:ext uri="{FF2B5EF4-FFF2-40B4-BE49-F238E27FC236}">
                <a16:creationId xmlns:a16="http://schemas.microsoft.com/office/drawing/2014/main" id="{115532A6-5224-49A1-8830-48D907C812E8}"/>
              </a:ext>
            </a:extLst>
          </p:cNvPr>
          <p:cNvGrpSpPr/>
          <p:nvPr/>
        </p:nvGrpSpPr>
        <p:grpSpPr>
          <a:xfrm>
            <a:off x="4822056" y="2713175"/>
            <a:ext cx="1240369" cy="2511937"/>
            <a:chOff x="3511148" y="2356463"/>
            <a:chExt cx="930300" cy="1884000"/>
          </a:xfrm>
        </p:grpSpPr>
        <p:sp>
          <p:nvSpPr>
            <p:cNvPr id="23" name="Google Shape;9653;p781">
              <a:extLst>
                <a:ext uri="{FF2B5EF4-FFF2-40B4-BE49-F238E27FC236}">
                  <a16:creationId xmlns:a16="http://schemas.microsoft.com/office/drawing/2014/main" id="{E8F8E8A9-A779-CFA6-DA41-E2C4F01A2B21}"/>
                </a:ext>
              </a:extLst>
            </p:cNvPr>
            <p:cNvSpPr/>
            <p:nvPr/>
          </p:nvSpPr>
          <p:spPr>
            <a:xfrm>
              <a:off x="3511148" y="2356463"/>
              <a:ext cx="930300" cy="188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>
              <a:outerShdw blurRad="76200" dist="2540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b="1">
                  <a:solidFill>
                    <a:schemeClr val="lt1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Pod 1</a:t>
              </a:r>
              <a:endParaRPr sz="1200" b="1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4" name="Google Shape;9668;p781">
              <a:extLst>
                <a:ext uri="{FF2B5EF4-FFF2-40B4-BE49-F238E27FC236}">
                  <a16:creationId xmlns:a16="http://schemas.microsoft.com/office/drawing/2014/main" id="{868224AE-D5DF-B6C7-CA71-4AB73EF436A4}"/>
                </a:ext>
              </a:extLst>
            </p:cNvPr>
            <p:cNvSpPr/>
            <p:nvPr/>
          </p:nvSpPr>
          <p:spPr>
            <a:xfrm>
              <a:off x="3546923" y="2565903"/>
              <a:ext cx="858900" cy="2919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5" name="Google Shape;9669;p781">
              <a:extLst>
                <a:ext uri="{FF2B5EF4-FFF2-40B4-BE49-F238E27FC236}">
                  <a16:creationId xmlns:a16="http://schemas.microsoft.com/office/drawing/2014/main" id="{E5F8DB3B-9746-BF19-717F-F004B9A86F57}"/>
                </a:ext>
              </a:extLst>
            </p:cNvPr>
            <p:cNvSpPr/>
            <p:nvPr/>
          </p:nvSpPr>
          <p:spPr>
            <a:xfrm>
              <a:off x="3546923" y="3065173"/>
              <a:ext cx="858900" cy="2919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grpSp>
          <p:nvGrpSpPr>
            <p:cNvPr id="26" name="Google Shape;9670;p781">
              <a:extLst>
                <a:ext uri="{FF2B5EF4-FFF2-40B4-BE49-F238E27FC236}">
                  <a16:creationId xmlns:a16="http://schemas.microsoft.com/office/drawing/2014/main" id="{F7F26F22-9FBF-4114-38EE-F1D309121785}"/>
                </a:ext>
              </a:extLst>
            </p:cNvPr>
            <p:cNvGrpSpPr/>
            <p:nvPr/>
          </p:nvGrpSpPr>
          <p:grpSpPr>
            <a:xfrm>
              <a:off x="3546923" y="3571334"/>
              <a:ext cx="858825" cy="414900"/>
              <a:chOff x="944600" y="5046450"/>
              <a:chExt cx="1145100" cy="553200"/>
            </a:xfrm>
          </p:grpSpPr>
          <p:sp>
            <p:nvSpPr>
              <p:cNvPr id="29" name="Google Shape;9671;p781">
                <a:extLst>
                  <a:ext uri="{FF2B5EF4-FFF2-40B4-BE49-F238E27FC236}">
                    <a16:creationId xmlns:a16="http://schemas.microsoft.com/office/drawing/2014/main" id="{6EF4F90A-EFE6-4B02-B9C8-FA2ED58FE166}"/>
                  </a:ext>
                </a:extLst>
              </p:cNvPr>
              <p:cNvSpPr/>
              <p:nvPr/>
            </p:nvSpPr>
            <p:spPr>
              <a:xfrm>
                <a:off x="944600" y="5046450"/>
                <a:ext cx="1145100" cy="553200"/>
              </a:xfrm>
              <a:prstGeom prst="roundRect">
                <a:avLst>
                  <a:gd name="adj" fmla="val 16667"/>
                </a:avLst>
              </a:prstGeom>
              <a:solidFill>
                <a:schemeClr val="lt1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latin typeface="Red Hat Display"/>
                  <a:ea typeface="Red Hat Display"/>
                  <a:cs typeface="Red Hat Display"/>
                  <a:sym typeface="Red Hat Display"/>
                </a:endParaRPr>
              </a:p>
            </p:txBody>
          </p:sp>
          <p:pic>
            <p:nvPicPr>
              <p:cNvPr id="30" name="Google Shape;9672;p781">
                <a:extLst>
                  <a:ext uri="{FF2B5EF4-FFF2-40B4-BE49-F238E27FC236}">
                    <a16:creationId xmlns:a16="http://schemas.microsoft.com/office/drawing/2014/main" id="{8AAF9939-47A7-4519-0977-AEC98C805B87}"/>
                  </a:ext>
                </a:extLst>
              </p:cNvPr>
              <p:cNvPicPr preferRelativeResize="0"/>
              <p:nvPr/>
            </p:nvPicPr>
            <p:blipFill rotWithShape="1">
              <a:blip r:embed="rId7">
                <a:alphaModFix/>
              </a:blip>
              <a:srcRect t="29647" b="28091"/>
              <a:stretch/>
            </p:blipFill>
            <p:spPr>
              <a:xfrm>
                <a:off x="1017725" y="5136274"/>
                <a:ext cx="998850" cy="233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1" name="Google Shape;9673;p781">
                <a:extLst>
                  <a:ext uri="{FF2B5EF4-FFF2-40B4-BE49-F238E27FC236}">
                    <a16:creationId xmlns:a16="http://schemas.microsoft.com/office/drawing/2014/main" id="{7ABD1576-3C7E-93B0-D4B1-94F685A3EB4C}"/>
                  </a:ext>
                </a:extLst>
              </p:cNvPr>
              <p:cNvSpPr txBox="1"/>
              <p:nvPr/>
            </p:nvSpPr>
            <p:spPr>
              <a:xfrm>
                <a:off x="1085750" y="5320597"/>
                <a:ext cx="862800" cy="226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latin typeface="Red Hat Display"/>
                    <a:ea typeface="Red Hat Display"/>
                    <a:cs typeface="Red Hat Display"/>
                    <a:sym typeface="Red Hat Display"/>
                  </a:rPr>
                  <a:t>GPU</a:t>
                </a:r>
                <a:endParaRPr sz="1200">
                  <a:latin typeface="Red Hat Display"/>
                  <a:ea typeface="Red Hat Display"/>
                  <a:cs typeface="Red Hat Display"/>
                  <a:sym typeface="Red Hat Display"/>
                </a:endParaRPr>
              </a:p>
            </p:txBody>
          </p:sp>
        </p:grpSp>
        <p:pic>
          <p:nvPicPr>
            <p:cNvPr id="27" name="Google Shape;9674;p781">
              <a:extLst>
                <a:ext uri="{FF2B5EF4-FFF2-40B4-BE49-F238E27FC236}">
                  <a16:creationId xmlns:a16="http://schemas.microsoft.com/office/drawing/2014/main" id="{5AD82F8A-2ECC-4987-999D-D7656A341FE1}"/>
                </a:ext>
              </a:extLst>
            </p:cNvPr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617589" y="3108261"/>
              <a:ext cx="717491" cy="2056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" name="Google Shape;9675;p781">
              <a:extLst>
                <a:ext uri="{FF2B5EF4-FFF2-40B4-BE49-F238E27FC236}">
                  <a16:creationId xmlns:a16="http://schemas.microsoft.com/office/drawing/2014/main" id="{DBA2AAFA-44BC-E66A-F00F-8C09D752AB82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 r="64363"/>
            <a:stretch/>
          </p:blipFill>
          <p:spPr>
            <a:xfrm>
              <a:off x="3830850" y="2554018"/>
              <a:ext cx="291891" cy="31353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2" name="Google Shape;9676;p781">
            <a:extLst>
              <a:ext uri="{FF2B5EF4-FFF2-40B4-BE49-F238E27FC236}">
                <a16:creationId xmlns:a16="http://schemas.microsoft.com/office/drawing/2014/main" id="{6011EB68-1705-730A-6001-11AB6C1F4161}"/>
              </a:ext>
            </a:extLst>
          </p:cNvPr>
          <p:cNvGrpSpPr/>
          <p:nvPr/>
        </p:nvGrpSpPr>
        <p:grpSpPr>
          <a:xfrm>
            <a:off x="7525655" y="2713175"/>
            <a:ext cx="1240369" cy="2511937"/>
            <a:chOff x="5538898" y="2356463"/>
            <a:chExt cx="930300" cy="1884000"/>
          </a:xfrm>
        </p:grpSpPr>
        <p:sp>
          <p:nvSpPr>
            <p:cNvPr id="33" name="Google Shape;9657;p781">
              <a:extLst>
                <a:ext uri="{FF2B5EF4-FFF2-40B4-BE49-F238E27FC236}">
                  <a16:creationId xmlns:a16="http://schemas.microsoft.com/office/drawing/2014/main" id="{E15FC305-7E25-B096-7041-FDB44B402C56}"/>
                </a:ext>
              </a:extLst>
            </p:cNvPr>
            <p:cNvSpPr/>
            <p:nvPr/>
          </p:nvSpPr>
          <p:spPr>
            <a:xfrm>
              <a:off x="5538898" y="2356463"/>
              <a:ext cx="930300" cy="188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>
              <a:outerShdw blurRad="76200" dist="2540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b="1">
                  <a:solidFill>
                    <a:schemeClr val="lt1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Pod 3</a:t>
              </a:r>
              <a:endParaRPr sz="1200" b="1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34" name="Google Shape;9677;p781">
              <a:extLst>
                <a:ext uri="{FF2B5EF4-FFF2-40B4-BE49-F238E27FC236}">
                  <a16:creationId xmlns:a16="http://schemas.microsoft.com/office/drawing/2014/main" id="{585D415A-727C-70C1-3DF5-BD350FFFBF23}"/>
                </a:ext>
              </a:extLst>
            </p:cNvPr>
            <p:cNvSpPr/>
            <p:nvPr/>
          </p:nvSpPr>
          <p:spPr>
            <a:xfrm>
              <a:off x="5574673" y="2565903"/>
              <a:ext cx="858900" cy="2919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35" name="Google Shape;9678;p781">
              <a:extLst>
                <a:ext uri="{FF2B5EF4-FFF2-40B4-BE49-F238E27FC236}">
                  <a16:creationId xmlns:a16="http://schemas.microsoft.com/office/drawing/2014/main" id="{9650B8A5-3F9F-C982-F49F-0EF2682F5657}"/>
                </a:ext>
              </a:extLst>
            </p:cNvPr>
            <p:cNvSpPr/>
            <p:nvPr/>
          </p:nvSpPr>
          <p:spPr>
            <a:xfrm>
              <a:off x="5574673" y="3065173"/>
              <a:ext cx="858900" cy="2919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grpSp>
          <p:nvGrpSpPr>
            <p:cNvPr id="36" name="Google Shape;9679;p781">
              <a:extLst>
                <a:ext uri="{FF2B5EF4-FFF2-40B4-BE49-F238E27FC236}">
                  <a16:creationId xmlns:a16="http://schemas.microsoft.com/office/drawing/2014/main" id="{38925D8F-57EC-D554-F9F8-F67E00EA98BC}"/>
                </a:ext>
              </a:extLst>
            </p:cNvPr>
            <p:cNvGrpSpPr/>
            <p:nvPr/>
          </p:nvGrpSpPr>
          <p:grpSpPr>
            <a:xfrm>
              <a:off x="5574673" y="3545131"/>
              <a:ext cx="858825" cy="414900"/>
              <a:chOff x="3854700" y="5011513"/>
              <a:chExt cx="1145100" cy="553200"/>
            </a:xfrm>
          </p:grpSpPr>
          <p:sp>
            <p:nvSpPr>
              <p:cNvPr id="39" name="Google Shape;9680;p781">
                <a:extLst>
                  <a:ext uri="{FF2B5EF4-FFF2-40B4-BE49-F238E27FC236}">
                    <a16:creationId xmlns:a16="http://schemas.microsoft.com/office/drawing/2014/main" id="{50EAF14A-6DE3-6C3F-1400-35CA07B177D0}"/>
                  </a:ext>
                </a:extLst>
              </p:cNvPr>
              <p:cNvSpPr/>
              <p:nvPr/>
            </p:nvSpPr>
            <p:spPr>
              <a:xfrm>
                <a:off x="3854700" y="5011513"/>
                <a:ext cx="1145100" cy="553200"/>
              </a:xfrm>
              <a:prstGeom prst="roundRect">
                <a:avLst>
                  <a:gd name="adj" fmla="val 16667"/>
                </a:avLst>
              </a:prstGeom>
              <a:solidFill>
                <a:schemeClr val="lt1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latin typeface="Red Hat Display"/>
                  <a:ea typeface="Red Hat Display"/>
                  <a:cs typeface="Red Hat Display"/>
                  <a:sym typeface="Red Hat Display"/>
                </a:endParaRPr>
              </a:p>
            </p:txBody>
          </p:sp>
          <p:pic>
            <p:nvPicPr>
              <p:cNvPr id="40" name="Google Shape;9681;p781">
                <a:extLst>
                  <a:ext uri="{FF2B5EF4-FFF2-40B4-BE49-F238E27FC236}">
                    <a16:creationId xmlns:a16="http://schemas.microsoft.com/office/drawing/2014/main" id="{8A78EE9D-C19E-8D63-DE94-E49F2A88C437}"/>
                  </a:ext>
                </a:extLst>
              </p:cNvPr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4101050" y="5124304"/>
                <a:ext cx="652400" cy="226528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Google Shape;9682;p781">
                <a:extLst>
                  <a:ext uri="{FF2B5EF4-FFF2-40B4-BE49-F238E27FC236}">
                    <a16:creationId xmlns:a16="http://schemas.microsoft.com/office/drawing/2014/main" id="{4E91C323-69C6-0394-B4BD-8069177C5DF4}"/>
                  </a:ext>
                </a:extLst>
              </p:cNvPr>
              <p:cNvSpPr txBox="1"/>
              <p:nvPr/>
            </p:nvSpPr>
            <p:spPr>
              <a:xfrm>
                <a:off x="3995850" y="5320597"/>
                <a:ext cx="862800" cy="226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latin typeface="Red Hat Display"/>
                    <a:ea typeface="Red Hat Display"/>
                    <a:cs typeface="Red Hat Display"/>
                    <a:sym typeface="Red Hat Display"/>
                  </a:rPr>
                  <a:t>TPU</a:t>
                </a:r>
                <a:endParaRPr sz="1200">
                  <a:latin typeface="Red Hat Display"/>
                  <a:ea typeface="Red Hat Display"/>
                  <a:cs typeface="Red Hat Display"/>
                  <a:sym typeface="Red Hat Display"/>
                </a:endParaRPr>
              </a:p>
            </p:txBody>
          </p:sp>
        </p:grpSp>
        <p:pic>
          <p:nvPicPr>
            <p:cNvPr id="37" name="Google Shape;9683;p781">
              <a:extLst>
                <a:ext uri="{FF2B5EF4-FFF2-40B4-BE49-F238E27FC236}">
                  <a16:creationId xmlns:a16="http://schemas.microsoft.com/office/drawing/2014/main" id="{28E99921-7EEE-DEF3-AC28-BB6DA85E9854}"/>
                </a:ext>
              </a:extLst>
            </p:cNvPr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645340" y="3108261"/>
              <a:ext cx="717491" cy="2056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8" name="Google Shape;9684;p781">
              <a:extLst>
                <a:ext uri="{FF2B5EF4-FFF2-40B4-BE49-F238E27FC236}">
                  <a16:creationId xmlns:a16="http://schemas.microsoft.com/office/drawing/2014/main" id="{558D4CF0-9EDB-BEC7-9C3E-4A6D1477FC27}"/>
                </a:ext>
              </a:extLst>
            </p:cNvPr>
            <p:cNvPicPr preferRelativeResize="0"/>
            <p:nvPr/>
          </p:nvPicPr>
          <p:blipFill>
            <a:blip r:embed="rId9">
              <a:alphaModFix/>
            </a:blip>
            <a:stretch>
              <a:fillRect/>
            </a:stretch>
          </p:blipFill>
          <p:spPr>
            <a:xfrm>
              <a:off x="5858594" y="2564827"/>
              <a:ext cx="291900" cy="29191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2" name="Google Shape;9685;p781">
            <a:extLst>
              <a:ext uri="{FF2B5EF4-FFF2-40B4-BE49-F238E27FC236}">
                <a16:creationId xmlns:a16="http://schemas.microsoft.com/office/drawing/2014/main" id="{9391C798-CF52-77C0-8547-C72D195B6DD0}"/>
              </a:ext>
            </a:extLst>
          </p:cNvPr>
          <p:cNvSpPr txBox="1"/>
          <p:nvPr/>
        </p:nvSpPr>
        <p:spPr>
          <a:xfrm>
            <a:off x="8979493" y="4321440"/>
            <a:ext cx="2094900" cy="4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Accelerators</a:t>
            </a:r>
            <a:endParaRPr sz="1500" b="1">
              <a:solidFill>
                <a:schemeClr val="accen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3" name="Google Shape;9686;p781">
            <a:extLst>
              <a:ext uri="{FF2B5EF4-FFF2-40B4-BE49-F238E27FC236}">
                <a16:creationId xmlns:a16="http://schemas.microsoft.com/office/drawing/2014/main" id="{4AE6F237-1480-4D02-0C7A-89B506D1D4DA}"/>
              </a:ext>
            </a:extLst>
          </p:cNvPr>
          <p:cNvSpPr txBox="1"/>
          <p:nvPr/>
        </p:nvSpPr>
        <p:spPr>
          <a:xfrm>
            <a:off x="8979493" y="3651399"/>
            <a:ext cx="2094900" cy="4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Inference Server</a:t>
            </a:r>
            <a:endParaRPr sz="1500" b="1">
              <a:solidFill>
                <a:schemeClr val="accen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4" name="Google Shape;9688;p781">
            <a:extLst>
              <a:ext uri="{FF2B5EF4-FFF2-40B4-BE49-F238E27FC236}">
                <a16:creationId xmlns:a16="http://schemas.microsoft.com/office/drawing/2014/main" id="{ECF2D50C-2217-6489-DF65-3D2EF865AD65}"/>
              </a:ext>
            </a:extLst>
          </p:cNvPr>
          <p:cNvSpPr txBox="1"/>
          <p:nvPr/>
        </p:nvSpPr>
        <p:spPr>
          <a:xfrm>
            <a:off x="8979493" y="2981357"/>
            <a:ext cx="2094900" cy="4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Models</a:t>
            </a:r>
            <a:endParaRPr sz="1500" b="1">
              <a:solidFill>
                <a:schemeClr val="accen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5" name="Google Shape;9689;p781">
            <a:extLst>
              <a:ext uri="{FF2B5EF4-FFF2-40B4-BE49-F238E27FC236}">
                <a16:creationId xmlns:a16="http://schemas.microsoft.com/office/drawing/2014/main" id="{8AAF51AA-7D89-2B68-993C-9F06F886CE6E}"/>
              </a:ext>
            </a:extLst>
          </p:cNvPr>
          <p:cNvSpPr txBox="1"/>
          <p:nvPr/>
        </p:nvSpPr>
        <p:spPr>
          <a:xfrm>
            <a:off x="8979493" y="1153049"/>
            <a:ext cx="2094900" cy="4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AI Gateway/API Mgt</a:t>
            </a:r>
            <a:endParaRPr sz="1500" b="1">
              <a:solidFill>
                <a:schemeClr val="accen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6" name="Google Shape;9690;p781">
            <a:extLst>
              <a:ext uri="{FF2B5EF4-FFF2-40B4-BE49-F238E27FC236}">
                <a16:creationId xmlns:a16="http://schemas.microsoft.com/office/drawing/2014/main" id="{139F7D9D-83A6-3F1C-80B2-C7023FD88F31}"/>
              </a:ext>
            </a:extLst>
          </p:cNvPr>
          <p:cNvSpPr/>
          <p:nvPr/>
        </p:nvSpPr>
        <p:spPr>
          <a:xfrm>
            <a:off x="8805742" y="4240596"/>
            <a:ext cx="106500" cy="645600"/>
          </a:xfrm>
          <a:prstGeom prst="rightBracket">
            <a:avLst>
              <a:gd name="adj" fmla="val 8333"/>
            </a:avLst>
          </a:prstGeom>
          <a:noFill/>
          <a:ln w="127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00"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7" name="Google Shape;9691;p781">
            <a:extLst>
              <a:ext uri="{FF2B5EF4-FFF2-40B4-BE49-F238E27FC236}">
                <a16:creationId xmlns:a16="http://schemas.microsoft.com/office/drawing/2014/main" id="{887FC54E-EE11-45D9-4E4C-F88FABD39184}"/>
              </a:ext>
            </a:extLst>
          </p:cNvPr>
          <p:cNvSpPr/>
          <p:nvPr/>
        </p:nvSpPr>
        <p:spPr>
          <a:xfrm>
            <a:off x="8805742" y="3529962"/>
            <a:ext cx="106500" cy="645600"/>
          </a:xfrm>
          <a:prstGeom prst="rightBracket">
            <a:avLst>
              <a:gd name="adj" fmla="val 8333"/>
            </a:avLst>
          </a:prstGeom>
          <a:noFill/>
          <a:ln w="127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00"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8" name="Google Shape;9692;p781">
            <a:extLst>
              <a:ext uri="{FF2B5EF4-FFF2-40B4-BE49-F238E27FC236}">
                <a16:creationId xmlns:a16="http://schemas.microsoft.com/office/drawing/2014/main" id="{F54369F0-BD1E-E526-4241-F9199AA56B3D}"/>
              </a:ext>
            </a:extLst>
          </p:cNvPr>
          <p:cNvSpPr/>
          <p:nvPr/>
        </p:nvSpPr>
        <p:spPr>
          <a:xfrm>
            <a:off x="8805742" y="2819329"/>
            <a:ext cx="106500" cy="645600"/>
          </a:xfrm>
          <a:prstGeom prst="rightBracket">
            <a:avLst>
              <a:gd name="adj" fmla="val 8333"/>
            </a:avLst>
          </a:prstGeom>
          <a:noFill/>
          <a:ln w="127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00"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9" name="Google Shape;9693;p781">
            <a:extLst>
              <a:ext uri="{FF2B5EF4-FFF2-40B4-BE49-F238E27FC236}">
                <a16:creationId xmlns:a16="http://schemas.microsoft.com/office/drawing/2014/main" id="{80C694B4-C203-7C68-B575-FE311F33A34F}"/>
              </a:ext>
            </a:extLst>
          </p:cNvPr>
          <p:cNvSpPr/>
          <p:nvPr/>
        </p:nvSpPr>
        <p:spPr>
          <a:xfrm>
            <a:off x="8805742" y="1775779"/>
            <a:ext cx="106500" cy="882000"/>
          </a:xfrm>
          <a:prstGeom prst="rightBracket">
            <a:avLst>
              <a:gd name="adj" fmla="val 8333"/>
            </a:avLst>
          </a:prstGeom>
          <a:noFill/>
          <a:ln w="127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00"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50" name="Google Shape;9694;p781">
            <a:extLst>
              <a:ext uri="{FF2B5EF4-FFF2-40B4-BE49-F238E27FC236}">
                <a16:creationId xmlns:a16="http://schemas.microsoft.com/office/drawing/2014/main" id="{CC1C1053-DB5C-6E18-B899-E21E5561D59E}"/>
              </a:ext>
            </a:extLst>
          </p:cNvPr>
          <p:cNvSpPr/>
          <p:nvPr/>
        </p:nvSpPr>
        <p:spPr>
          <a:xfrm>
            <a:off x="767342" y="1256296"/>
            <a:ext cx="7998900" cy="389100"/>
          </a:xfrm>
          <a:prstGeom prst="rect">
            <a:avLst/>
          </a:prstGeom>
          <a:solidFill>
            <a:srgbClr val="FFFFFE"/>
          </a:solidFill>
          <a:ln w="127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Model as a Service</a:t>
            </a:r>
            <a:endParaRPr sz="1600" b="1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51" name="Google Shape;9695;p781">
            <a:extLst>
              <a:ext uri="{FF2B5EF4-FFF2-40B4-BE49-F238E27FC236}">
                <a16:creationId xmlns:a16="http://schemas.microsoft.com/office/drawing/2014/main" id="{B286D035-6F16-1DED-FE98-45D951804BF9}"/>
              </a:ext>
            </a:extLst>
          </p:cNvPr>
          <p:cNvSpPr/>
          <p:nvPr/>
        </p:nvSpPr>
        <p:spPr>
          <a:xfrm>
            <a:off x="8808409" y="1212829"/>
            <a:ext cx="106500" cy="457500"/>
          </a:xfrm>
          <a:prstGeom prst="rightBracket">
            <a:avLst>
              <a:gd name="adj" fmla="val 8333"/>
            </a:avLst>
          </a:prstGeom>
          <a:noFill/>
          <a:ln w="127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00"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pic>
        <p:nvPicPr>
          <p:cNvPr id="52" name="Google Shape;9697;p781">
            <a:extLst>
              <a:ext uri="{FF2B5EF4-FFF2-40B4-BE49-F238E27FC236}">
                <a16:creationId xmlns:a16="http://schemas.microsoft.com/office/drawing/2014/main" id="{EBA8ABAD-BA1C-CEDB-F7B8-B112BA26657D}"/>
              </a:ext>
            </a:extLst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92592" y="2981343"/>
            <a:ext cx="975600" cy="7231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9698;p781">
            <a:extLst>
              <a:ext uri="{FF2B5EF4-FFF2-40B4-BE49-F238E27FC236}">
                <a16:creationId xmlns:a16="http://schemas.microsoft.com/office/drawing/2014/main" id="{F60D4E89-0B03-A5DB-D8BD-2C024846EDDF}"/>
              </a:ext>
            </a:extLst>
          </p:cNvPr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2324623" y="2993053"/>
            <a:ext cx="527676" cy="527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9699;p781">
            <a:extLst>
              <a:ext uri="{FF2B5EF4-FFF2-40B4-BE49-F238E27FC236}">
                <a16:creationId xmlns:a16="http://schemas.microsoft.com/office/drawing/2014/main" id="{01E30FD8-ED91-76D8-1C38-2E8D876D0EB9}"/>
              </a:ext>
            </a:extLst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3408715" y="2988944"/>
            <a:ext cx="723128" cy="723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9700;p781">
            <a:extLst>
              <a:ext uri="{FF2B5EF4-FFF2-40B4-BE49-F238E27FC236}">
                <a16:creationId xmlns:a16="http://schemas.microsoft.com/office/drawing/2014/main" id="{0F14B989-6BFC-BED0-3286-F855651ACDE1}"/>
              </a:ext>
            </a:extLst>
          </p:cNvPr>
          <p:cNvCxnSpPr>
            <a:stCxn id="50" idx="2"/>
            <a:endCxn id="52" idx="0"/>
          </p:cNvCxnSpPr>
          <p:nvPr/>
        </p:nvCxnSpPr>
        <p:spPr>
          <a:xfrm rot="5400000">
            <a:off x="2355692" y="570196"/>
            <a:ext cx="1335900" cy="3486300"/>
          </a:xfrm>
          <a:prstGeom prst="bentConnector3">
            <a:avLst>
              <a:gd name="adj1" fmla="val 50002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6" name="Google Shape;9701;p781">
            <a:extLst>
              <a:ext uri="{FF2B5EF4-FFF2-40B4-BE49-F238E27FC236}">
                <a16:creationId xmlns:a16="http://schemas.microsoft.com/office/drawing/2014/main" id="{64EECE46-C81B-0F03-D74D-49EC6999036D}"/>
              </a:ext>
            </a:extLst>
          </p:cNvPr>
          <p:cNvCxnSpPr>
            <a:stCxn id="50" idx="2"/>
            <a:endCxn id="53" idx="0"/>
          </p:cNvCxnSpPr>
          <p:nvPr/>
        </p:nvCxnSpPr>
        <p:spPr>
          <a:xfrm rot="5400000">
            <a:off x="3003842" y="1230046"/>
            <a:ext cx="1347600" cy="2178300"/>
          </a:xfrm>
          <a:prstGeom prst="bentConnector3">
            <a:avLst>
              <a:gd name="adj1" fmla="val 50002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" name="Google Shape;9702;p781">
            <a:extLst>
              <a:ext uri="{FF2B5EF4-FFF2-40B4-BE49-F238E27FC236}">
                <a16:creationId xmlns:a16="http://schemas.microsoft.com/office/drawing/2014/main" id="{1FEDBADF-42AE-66CE-C911-AB553F747B39}"/>
              </a:ext>
            </a:extLst>
          </p:cNvPr>
          <p:cNvCxnSpPr>
            <a:stCxn id="50" idx="2"/>
            <a:endCxn id="54" idx="0"/>
          </p:cNvCxnSpPr>
          <p:nvPr/>
        </p:nvCxnSpPr>
        <p:spPr>
          <a:xfrm rot="5400000">
            <a:off x="3596792" y="1818796"/>
            <a:ext cx="1343400" cy="996600"/>
          </a:xfrm>
          <a:prstGeom prst="bentConnector3">
            <a:avLst>
              <a:gd name="adj1" fmla="val 50006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8" name="Google Shape;9703;p781">
            <a:extLst>
              <a:ext uri="{FF2B5EF4-FFF2-40B4-BE49-F238E27FC236}">
                <a16:creationId xmlns:a16="http://schemas.microsoft.com/office/drawing/2014/main" id="{514474D6-D067-CE5B-1740-7F2EA60F82A4}"/>
              </a:ext>
            </a:extLst>
          </p:cNvPr>
          <p:cNvSpPr/>
          <p:nvPr/>
        </p:nvSpPr>
        <p:spPr>
          <a:xfrm>
            <a:off x="767342" y="3882511"/>
            <a:ext cx="3364500" cy="402900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76200" dist="2540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External Model Providers</a:t>
            </a:r>
            <a:endParaRPr sz="1200" b="1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59" name="Google Shape;9687;p781">
            <a:extLst>
              <a:ext uri="{FF2B5EF4-FFF2-40B4-BE49-F238E27FC236}">
                <a16:creationId xmlns:a16="http://schemas.microsoft.com/office/drawing/2014/main" id="{5B4F7CAE-AF26-49EF-867F-FEAC17D76E55}"/>
              </a:ext>
            </a:extLst>
          </p:cNvPr>
          <p:cNvSpPr txBox="1"/>
          <p:nvPr/>
        </p:nvSpPr>
        <p:spPr>
          <a:xfrm>
            <a:off x="8912242" y="1974111"/>
            <a:ext cx="3102692" cy="402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91401" rIns="91401" bIns="91401" anchor="ctr" anchorCtr="0">
            <a:noAutofit/>
          </a:bodyPr>
          <a:lstStyle/>
          <a:p>
            <a:r>
              <a:rPr lang="en" sz="1500" b="1"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Distributed Inference Framework</a:t>
            </a:r>
            <a:endParaRPr sz="1500" b="1">
              <a:solidFill>
                <a:schemeClr val="accen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159C49D-F932-901B-D201-D9931AAC0E4E}"/>
              </a:ext>
            </a:extLst>
          </p:cNvPr>
          <p:cNvSpPr txBox="1"/>
          <p:nvPr/>
        </p:nvSpPr>
        <p:spPr>
          <a:xfrm>
            <a:off x="643439" y="5601704"/>
            <a:ext cx="3364501" cy="90794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EE0000"/>
                </a:solidFill>
              </a:defRPr>
            </a:pPr>
            <a:r>
              <a:rPr sz="2000" dirty="0"/>
              <a:t>• GPT-oss-20</a:t>
            </a:r>
            <a:r>
              <a:rPr lang="en-US" sz="2000" dirty="0"/>
              <a:t>b</a:t>
            </a:r>
          </a:p>
          <a:p>
            <a:pPr lvl="1">
              <a:spcAft>
                <a:spcPts val="200"/>
              </a:spcAft>
              <a:defRPr sz="1400"/>
            </a:pPr>
            <a:r>
              <a:rPr lang="en-US" sz="1400" dirty="0"/>
              <a:t>21B </a:t>
            </a:r>
            <a:r>
              <a:rPr lang="en-US" sz="1400" dirty="0" err="1"/>
              <a:t>MoE</a:t>
            </a:r>
            <a:r>
              <a:rPr lang="en-US" sz="1400" dirty="0"/>
              <a:t> (3.6B active), 128K context. </a:t>
            </a:r>
          </a:p>
          <a:p>
            <a:pPr lvl="1">
              <a:spcAft>
                <a:spcPts val="200"/>
              </a:spcAft>
              <a:defRPr sz="1400"/>
            </a:pPr>
            <a:r>
              <a:rPr sz="1400" dirty="0"/>
              <a:t>Use: Document parsing, reasoning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39300E8-348C-31E7-AF1F-2C2F3198E5CE}"/>
              </a:ext>
            </a:extLst>
          </p:cNvPr>
          <p:cNvSpPr txBox="1"/>
          <p:nvPr/>
        </p:nvSpPr>
        <p:spPr>
          <a:xfrm>
            <a:off x="4287586" y="5601704"/>
            <a:ext cx="3540906" cy="114903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EE0000"/>
                </a:solidFill>
              </a:defRPr>
            </a:pPr>
            <a:r>
              <a:rPr sz="2000" dirty="0"/>
              <a:t>• BGE-M3</a:t>
            </a:r>
          </a:p>
          <a:p>
            <a:pPr lvl="1">
              <a:spcAft>
                <a:spcPts val="200"/>
              </a:spcAft>
              <a:defRPr sz="1400"/>
            </a:pPr>
            <a:r>
              <a:rPr sz="1400" dirty="0"/>
              <a:t>568M params, 1024-dim embeddings, </a:t>
            </a:r>
            <a:endParaRPr lang="en-US" sz="1400" dirty="0"/>
          </a:p>
          <a:p>
            <a:pPr lvl="1">
              <a:spcAft>
                <a:spcPts val="200"/>
              </a:spcAft>
              <a:defRPr sz="1400"/>
            </a:pPr>
            <a:r>
              <a:rPr sz="1400" dirty="0"/>
              <a:t>Multilingual EN/HE</a:t>
            </a:r>
          </a:p>
          <a:p>
            <a:pPr lvl="1">
              <a:spcAft>
                <a:spcPts val="1600"/>
              </a:spcAft>
              <a:defRPr sz="1400"/>
            </a:pPr>
            <a:r>
              <a:rPr sz="1400" dirty="0"/>
              <a:t>Use: Semantic search, RAG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FAEED2-D93F-FE38-5F0C-485B2DC74E96}"/>
              </a:ext>
            </a:extLst>
          </p:cNvPr>
          <p:cNvSpPr txBox="1"/>
          <p:nvPr/>
        </p:nvSpPr>
        <p:spPr>
          <a:xfrm>
            <a:off x="8139044" y="5601704"/>
            <a:ext cx="3449214" cy="90794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EE0000"/>
                </a:solidFill>
              </a:defRPr>
            </a:pPr>
            <a:r>
              <a:rPr sz="2000" dirty="0"/>
              <a:t>• GPT-</a:t>
            </a:r>
            <a:r>
              <a:rPr lang="en-IL" sz="2000" dirty="0"/>
              <a:t>4</a:t>
            </a:r>
            <a:r>
              <a:rPr sz="2000" dirty="0"/>
              <a:t>o</a:t>
            </a:r>
          </a:p>
          <a:p>
            <a:pPr lvl="1">
              <a:spcAft>
                <a:spcPts val="200"/>
              </a:spcAft>
              <a:defRPr sz="1400"/>
            </a:pPr>
            <a:r>
              <a:rPr sz="1400" dirty="0"/>
              <a:t>  OpenAI via </a:t>
            </a:r>
            <a:r>
              <a:rPr sz="1400" dirty="0" err="1"/>
              <a:t>MaaS</a:t>
            </a:r>
            <a:r>
              <a:rPr sz="1400" dirty="0"/>
              <a:t> proxy, Premium tier</a:t>
            </a:r>
          </a:p>
          <a:p>
            <a:pPr lvl="1">
              <a:spcAft>
                <a:spcPts val="1600"/>
              </a:spcAft>
              <a:defRPr sz="1400"/>
            </a:pPr>
            <a:r>
              <a:rPr sz="1400" dirty="0"/>
              <a:t>  Use: Complex tasks, fallback</a:t>
            </a:r>
          </a:p>
        </p:txBody>
      </p:sp>
    </p:spTree>
    <p:extLst>
      <p:ext uri="{BB962C8B-B14F-4D97-AF65-F5344CB8AC3E}">
        <p14:creationId xmlns:p14="http://schemas.microsoft.com/office/powerpoint/2010/main" val="32468418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4" name="Google Shape;9644;p781"/>
          <p:cNvSpPr/>
          <p:nvPr/>
        </p:nvSpPr>
        <p:spPr>
          <a:xfrm>
            <a:off x="748856" y="2282710"/>
            <a:ext cx="7996817" cy="388999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F2F2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01" tIns="91401" rIns="91401" bIns="91401" anchor="ctr" anchorCtr="0">
            <a:noAutofit/>
          </a:bodyPr>
          <a:lstStyle/>
          <a:p>
            <a:pPr algn="ctr"/>
            <a:endParaRPr sz="1899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645" name="Google Shape;9645;p781"/>
          <p:cNvSpPr txBox="1">
            <a:spLocks noGrp="1"/>
          </p:cNvSpPr>
          <p:nvPr>
            <p:ph type="sldNum" idx="12"/>
          </p:nvPr>
        </p:nvSpPr>
        <p:spPr>
          <a:xfrm>
            <a:off x="109271" y="8225719"/>
            <a:ext cx="975346" cy="191650"/>
          </a:xfrm>
          <a:prstGeom prst="rect">
            <a:avLst/>
          </a:prstGeom>
        </p:spPr>
        <p:txBody>
          <a:bodyPr spcFirstLastPara="1" vert="horz" wrap="square" lIns="91401" tIns="91401" rIns="91401" bIns="91401" rtlCol="0" anchor="b" anchorCtr="0">
            <a:noAutofit/>
          </a:bodyPr>
          <a:lstStyle/>
          <a:p>
            <a:fld id="{00000000-1234-1234-1234-123412341234}" type="slidenum">
              <a:rPr lang="en"/>
              <a:pPr/>
              <a:t>8</a:t>
            </a:fld>
            <a:endParaRPr/>
          </a:p>
        </p:txBody>
      </p:sp>
      <p:sp>
        <p:nvSpPr>
          <p:cNvPr id="9646" name="Google Shape;9646;p781"/>
          <p:cNvSpPr txBox="1">
            <a:spLocks noGrp="1"/>
          </p:cNvSpPr>
          <p:nvPr>
            <p:ph type="title"/>
          </p:nvPr>
        </p:nvSpPr>
        <p:spPr>
          <a:xfrm>
            <a:off x="884836" y="1078512"/>
            <a:ext cx="10419286" cy="457381"/>
          </a:xfrm>
          <a:prstGeom prst="rect">
            <a:avLst/>
          </a:prstGeom>
        </p:spPr>
        <p:txBody>
          <a:bodyPr spcFirstLastPara="1" vert="horz" wrap="square" lIns="91401" tIns="91401" rIns="91401" bIns="91401" rtlCol="0" anchor="ctr" anchorCtr="0">
            <a:noAutofit/>
          </a:bodyPr>
          <a:lstStyle/>
          <a:p>
            <a:pPr>
              <a:lnSpc>
                <a:spcPct val="100000"/>
              </a:lnSpc>
            </a:pPr>
            <a:r>
              <a:rPr lang="en" dirty="0">
                <a:latin typeface="Red Hat Display SemiBold"/>
                <a:ea typeface="Red Hat Display SemiBold"/>
                <a:cs typeface="Red Hat Display SemiBold"/>
                <a:sym typeface="Red Hat Display SemiBold"/>
              </a:rPr>
              <a:t>Enterprise GenAI inference platform</a:t>
            </a:r>
            <a:endParaRPr dirty="0">
              <a:latin typeface="Red Hat Display SemiBold"/>
              <a:ea typeface="Red Hat Display SemiBold"/>
              <a:cs typeface="Red Hat Display SemiBold"/>
              <a:sym typeface="Red Hat Display SemiBold"/>
            </a:endParaRPr>
          </a:p>
        </p:txBody>
      </p:sp>
      <p:sp>
        <p:nvSpPr>
          <p:cNvPr id="9647" name="Google Shape;9647;p781"/>
          <p:cNvSpPr txBox="1">
            <a:spLocks noGrp="1"/>
          </p:cNvSpPr>
          <p:nvPr>
            <p:ph type="subTitle" idx="3"/>
          </p:nvPr>
        </p:nvSpPr>
        <p:spPr>
          <a:xfrm>
            <a:off x="884902" y="1516866"/>
            <a:ext cx="10419286" cy="402795"/>
          </a:xfrm>
          <a:prstGeom prst="rect">
            <a:avLst/>
          </a:prstGeom>
        </p:spPr>
        <p:txBody>
          <a:bodyPr spcFirstLastPara="1" vert="horz" wrap="square" lIns="91401" tIns="91401" rIns="91401" bIns="91401" rtlCol="0" anchor="ctr" anchorCtr="0">
            <a:noAutofit/>
          </a:bodyPr>
          <a:lstStyle/>
          <a:p>
            <a:pPr marL="0" indent="0"/>
            <a:r>
              <a:rPr lang="en"/>
              <a:t>Holistic approach to optimize and operationalize deployment and scaling of open-source LLMs</a:t>
            </a:r>
            <a:endParaRPr/>
          </a:p>
        </p:txBody>
      </p:sp>
      <p:grpSp>
        <p:nvGrpSpPr>
          <p:cNvPr id="9648" name="Google Shape;9648;p781"/>
          <p:cNvGrpSpPr/>
          <p:nvPr/>
        </p:nvGrpSpPr>
        <p:grpSpPr>
          <a:xfrm>
            <a:off x="6204701" y="2650417"/>
            <a:ext cx="1226612" cy="617479"/>
            <a:chOff x="2923075" y="1827749"/>
            <a:chExt cx="920222" cy="463242"/>
          </a:xfrm>
        </p:grpSpPr>
        <p:sp>
          <p:nvSpPr>
            <p:cNvPr id="9649" name="Google Shape;9649;p781"/>
            <p:cNvSpPr/>
            <p:nvPr/>
          </p:nvSpPr>
          <p:spPr>
            <a:xfrm>
              <a:off x="2923075" y="1927091"/>
              <a:ext cx="816600" cy="363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  <a:effectLst>
              <a:outerShdw blurRad="76200" dist="2540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01" tIns="91401" rIns="91401" bIns="91401" anchor="ctr" anchorCtr="0">
              <a:noAutofit/>
            </a:bodyPr>
            <a:lstStyle/>
            <a:p>
              <a:pPr algn="ctr"/>
              <a:endParaRPr sz="1300" b="1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pic>
          <p:nvPicPr>
            <p:cNvPr id="9650" name="Google Shape;9650;p78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044521" y="2021331"/>
              <a:ext cx="573618" cy="1753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651" name="Google Shape;9651;p78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618149" y="1827749"/>
              <a:ext cx="225148" cy="218925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9652" name="Google Shape;9652;p781"/>
          <p:cNvCxnSpPr>
            <a:stCxn id="9649" idx="2"/>
            <a:endCxn id="9653" idx="0"/>
          </p:cNvCxnSpPr>
          <p:nvPr/>
        </p:nvCxnSpPr>
        <p:spPr>
          <a:xfrm rot="5400000">
            <a:off x="5844230" y="2820862"/>
            <a:ext cx="457681" cy="1351748"/>
          </a:xfrm>
          <a:prstGeom prst="bentConnector3">
            <a:avLst>
              <a:gd name="adj1" fmla="val 49988"/>
            </a:avLst>
          </a:prstGeom>
          <a:noFill/>
          <a:ln w="127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9654" name="Google Shape;9654;p781"/>
          <p:cNvCxnSpPr>
            <a:stCxn id="9649" idx="2"/>
            <a:endCxn id="9655" idx="0"/>
          </p:cNvCxnSpPr>
          <p:nvPr/>
        </p:nvCxnSpPr>
        <p:spPr>
          <a:xfrm rot="-5400000" flipH="1">
            <a:off x="6520404" y="3496436"/>
            <a:ext cx="457681" cy="600"/>
          </a:xfrm>
          <a:prstGeom prst="bentConnector3">
            <a:avLst>
              <a:gd name="adj1" fmla="val 49988"/>
            </a:avLst>
          </a:prstGeom>
          <a:noFill/>
          <a:ln w="127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9656" name="Google Shape;9656;p781"/>
          <p:cNvCxnSpPr>
            <a:stCxn id="9649" idx="2"/>
            <a:endCxn id="9657" idx="0"/>
          </p:cNvCxnSpPr>
          <p:nvPr/>
        </p:nvCxnSpPr>
        <p:spPr>
          <a:xfrm rot="-5400000" flipH="1">
            <a:off x="7195678" y="2821162"/>
            <a:ext cx="457681" cy="1351148"/>
          </a:xfrm>
          <a:prstGeom prst="bentConnector3">
            <a:avLst>
              <a:gd name="adj1" fmla="val 49988"/>
            </a:avLst>
          </a:prstGeom>
          <a:noFill/>
          <a:ln w="127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grpSp>
        <p:nvGrpSpPr>
          <p:cNvPr id="9658" name="Google Shape;9658;p781"/>
          <p:cNvGrpSpPr/>
          <p:nvPr/>
        </p:nvGrpSpPr>
        <p:grpSpPr>
          <a:xfrm>
            <a:off x="6129383" y="3725469"/>
            <a:ext cx="1240046" cy="2511283"/>
            <a:chOff x="4525523" y="2356463"/>
            <a:chExt cx="930300" cy="1884000"/>
          </a:xfrm>
        </p:grpSpPr>
        <p:sp>
          <p:nvSpPr>
            <p:cNvPr id="9655" name="Google Shape;9655;p781"/>
            <p:cNvSpPr/>
            <p:nvPr/>
          </p:nvSpPr>
          <p:spPr>
            <a:xfrm>
              <a:off x="4525523" y="2356463"/>
              <a:ext cx="930300" cy="188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>
              <a:outerShdw blurRad="76200" dist="2540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01" tIns="91401" rIns="91401" bIns="91401" anchor="b" anchorCtr="0">
              <a:noAutofit/>
            </a:bodyPr>
            <a:lstStyle/>
            <a:p>
              <a:pPr algn="ctr"/>
              <a:r>
                <a:rPr lang="en" sz="1200" b="1">
                  <a:solidFill>
                    <a:schemeClr val="lt1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Pod 2</a:t>
              </a:r>
              <a:endParaRPr sz="1200" b="1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9659" name="Google Shape;9659;p781"/>
            <p:cNvSpPr/>
            <p:nvPr/>
          </p:nvSpPr>
          <p:spPr>
            <a:xfrm>
              <a:off x="4561298" y="2565903"/>
              <a:ext cx="858900" cy="2919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01" tIns="91401" rIns="91401" bIns="91401" anchor="ctr" anchorCtr="0">
              <a:noAutofit/>
            </a:bodyPr>
            <a:lstStyle/>
            <a:p>
              <a:pPr algn="ctr"/>
              <a:endParaRPr sz="1400"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9660" name="Google Shape;9660;p781"/>
            <p:cNvSpPr/>
            <p:nvPr/>
          </p:nvSpPr>
          <p:spPr>
            <a:xfrm>
              <a:off x="4561298" y="3065173"/>
              <a:ext cx="858900" cy="2919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01" tIns="91401" rIns="91401" bIns="91401" anchor="ctr" anchorCtr="0">
              <a:noAutofit/>
            </a:bodyPr>
            <a:lstStyle/>
            <a:p>
              <a:pPr algn="ctr"/>
              <a:endParaRPr sz="1400"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grpSp>
          <p:nvGrpSpPr>
            <p:cNvPr id="9661" name="Google Shape;9661;p781"/>
            <p:cNvGrpSpPr/>
            <p:nvPr/>
          </p:nvGrpSpPr>
          <p:grpSpPr>
            <a:xfrm>
              <a:off x="4561298" y="3545131"/>
              <a:ext cx="858825" cy="414900"/>
              <a:chOff x="2344800" y="5011513"/>
              <a:chExt cx="1145100" cy="553200"/>
            </a:xfrm>
          </p:grpSpPr>
          <p:sp>
            <p:nvSpPr>
              <p:cNvPr id="9662" name="Google Shape;9662;p781"/>
              <p:cNvSpPr/>
              <p:nvPr/>
            </p:nvSpPr>
            <p:spPr>
              <a:xfrm>
                <a:off x="2344800" y="5011513"/>
                <a:ext cx="1145100" cy="553200"/>
              </a:xfrm>
              <a:prstGeom prst="roundRect">
                <a:avLst>
                  <a:gd name="adj" fmla="val 16667"/>
                </a:avLst>
              </a:prstGeom>
              <a:solidFill>
                <a:schemeClr val="lt1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01" tIns="91401" rIns="91401" bIns="91401" anchor="ctr" anchorCtr="0">
                <a:noAutofit/>
              </a:bodyPr>
              <a:lstStyle/>
              <a:p>
                <a:pPr algn="ctr"/>
                <a:endParaRPr sz="1400">
                  <a:latin typeface="Red Hat Display"/>
                  <a:ea typeface="Red Hat Display"/>
                  <a:cs typeface="Red Hat Display"/>
                  <a:sym typeface="Red Hat Display"/>
                </a:endParaRPr>
              </a:p>
            </p:txBody>
          </p:sp>
          <p:pic>
            <p:nvPicPr>
              <p:cNvPr id="9663" name="Google Shape;9663;p781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2591147" y="5049165"/>
                <a:ext cx="652406" cy="4026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664" name="Google Shape;9664;p781"/>
              <p:cNvSpPr txBox="1"/>
              <p:nvPr/>
            </p:nvSpPr>
            <p:spPr>
              <a:xfrm>
                <a:off x="2485950" y="5320597"/>
                <a:ext cx="862800" cy="226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01" tIns="91401" rIns="91401" bIns="91401" anchor="ctr" anchorCtr="0">
                <a:noAutofit/>
              </a:bodyPr>
              <a:lstStyle/>
              <a:p>
                <a:pPr algn="ctr"/>
                <a:r>
                  <a:rPr lang="en" sz="1200">
                    <a:latin typeface="Red Hat Display"/>
                    <a:ea typeface="Red Hat Display"/>
                    <a:cs typeface="Red Hat Display"/>
                    <a:sym typeface="Red Hat Display"/>
                  </a:rPr>
                  <a:t>Instinct</a:t>
                </a:r>
                <a:endParaRPr sz="1200">
                  <a:latin typeface="Red Hat Display"/>
                  <a:ea typeface="Red Hat Display"/>
                  <a:cs typeface="Red Hat Display"/>
                  <a:sym typeface="Red Hat Display"/>
                </a:endParaRPr>
              </a:p>
            </p:txBody>
          </p:sp>
        </p:grpSp>
        <p:pic>
          <p:nvPicPr>
            <p:cNvPr id="9665" name="Google Shape;9665;p781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4631964" y="3108261"/>
              <a:ext cx="717491" cy="2056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666" name="Google Shape;9666;p781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4684543" y="2601315"/>
              <a:ext cx="647045" cy="21892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667" name="Google Shape;9667;p781"/>
          <p:cNvGrpSpPr/>
          <p:nvPr/>
        </p:nvGrpSpPr>
        <p:grpSpPr>
          <a:xfrm>
            <a:off x="4777270" y="3725469"/>
            <a:ext cx="1240046" cy="2511283"/>
            <a:chOff x="3511148" y="2356463"/>
            <a:chExt cx="930300" cy="1884000"/>
          </a:xfrm>
        </p:grpSpPr>
        <p:sp>
          <p:nvSpPr>
            <p:cNvPr id="9653" name="Google Shape;9653;p781"/>
            <p:cNvSpPr/>
            <p:nvPr/>
          </p:nvSpPr>
          <p:spPr>
            <a:xfrm>
              <a:off x="3511148" y="2356463"/>
              <a:ext cx="930300" cy="188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>
              <a:outerShdw blurRad="76200" dist="2540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01" tIns="91401" rIns="91401" bIns="91401" anchor="b" anchorCtr="0">
              <a:noAutofit/>
            </a:bodyPr>
            <a:lstStyle/>
            <a:p>
              <a:pPr algn="ctr"/>
              <a:r>
                <a:rPr lang="en" sz="1200" b="1">
                  <a:solidFill>
                    <a:schemeClr val="lt1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Pod 1</a:t>
              </a:r>
              <a:endParaRPr sz="1200" b="1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9668" name="Google Shape;9668;p781"/>
            <p:cNvSpPr/>
            <p:nvPr/>
          </p:nvSpPr>
          <p:spPr>
            <a:xfrm>
              <a:off x="3546923" y="2565903"/>
              <a:ext cx="858900" cy="2919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01" tIns="91401" rIns="91401" bIns="91401" anchor="ctr" anchorCtr="0">
              <a:noAutofit/>
            </a:bodyPr>
            <a:lstStyle/>
            <a:p>
              <a:pPr algn="ctr"/>
              <a:endParaRPr sz="1400"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9669" name="Google Shape;9669;p781"/>
            <p:cNvSpPr/>
            <p:nvPr/>
          </p:nvSpPr>
          <p:spPr>
            <a:xfrm>
              <a:off x="3546923" y="3065173"/>
              <a:ext cx="858900" cy="2919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01" tIns="91401" rIns="91401" bIns="91401" anchor="ctr" anchorCtr="0">
              <a:noAutofit/>
            </a:bodyPr>
            <a:lstStyle/>
            <a:p>
              <a:pPr algn="ctr"/>
              <a:endParaRPr sz="1400"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grpSp>
          <p:nvGrpSpPr>
            <p:cNvPr id="9670" name="Google Shape;9670;p781"/>
            <p:cNvGrpSpPr/>
            <p:nvPr/>
          </p:nvGrpSpPr>
          <p:grpSpPr>
            <a:xfrm>
              <a:off x="3546923" y="3571334"/>
              <a:ext cx="858825" cy="414900"/>
              <a:chOff x="944600" y="5046450"/>
              <a:chExt cx="1145100" cy="553200"/>
            </a:xfrm>
          </p:grpSpPr>
          <p:sp>
            <p:nvSpPr>
              <p:cNvPr id="9671" name="Google Shape;9671;p781"/>
              <p:cNvSpPr/>
              <p:nvPr/>
            </p:nvSpPr>
            <p:spPr>
              <a:xfrm>
                <a:off x="944600" y="5046450"/>
                <a:ext cx="1145100" cy="553200"/>
              </a:xfrm>
              <a:prstGeom prst="roundRect">
                <a:avLst>
                  <a:gd name="adj" fmla="val 16667"/>
                </a:avLst>
              </a:prstGeom>
              <a:solidFill>
                <a:schemeClr val="lt1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01" tIns="91401" rIns="91401" bIns="91401" anchor="ctr" anchorCtr="0">
                <a:noAutofit/>
              </a:bodyPr>
              <a:lstStyle/>
              <a:p>
                <a:pPr algn="ctr"/>
                <a:endParaRPr sz="1400">
                  <a:latin typeface="Red Hat Display"/>
                  <a:ea typeface="Red Hat Display"/>
                  <a:cs typeface="Red Hat Display"/>
                  <a:sym typeface="Red Hat Display"/>
                </a:endParaRPr>
              </a:p>
            </p:txBody>
          </p:sp>
          <p:pic>
            <p:nvPicPr>
              <p:cNvPr id="9672" name="Google Shape;9672;p781"/>
              <p:cNvPicPr preferRelativeResize="0"/>
              <p:nvPr/>
            </p:nvPicPr>
            <p:blipFill rotWithShape="1">
              <a:blip r:embed="rId8">
                <a:alphaModFix/>
              </a:blip>
              <a:srcRect t="29647" b="28091"/>
              <a:stretch/>
            </p:blipFill>
            <p:spPr>
              <a:xfrm>
                <a:off x="1017725" y="5136274"/>
                <a:ext cx="998850" cy="233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673" name="Google Shape;9673;p781"/>
              <p:cNvSpPr txBox="1"/>
              <p:nvPr/>
            </p:nvSpPr>
            <p:spPr>
              <a:xfrm>
                <a:off x="1085750" y="5320597"/>
                <a:ext cx="862800" cy="226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01" tIns="91401" rIns="91401" bIns="91401" anchor="ctr" anchorCtr="0">
                <a:noAutofit/>
              </a:bodyPr>
              <a:lstStyle/>
              <a:p>
                <a:pPr algn="ctr"/>
                <a:r>
                  <a:rPr lang="en" sz="1200">
                    <a:latin typeface="Red Hat Display"/>
                    <a:ea typeface="Red Hat Display"/>
                    <a:cs typeface="Red Hat Display"/>
                    <a:sym typeface="Red Hat Display"/>
                  </a:rPr>
                  <a:t>GPU</a:t>
                </a:r>
                <a:endParaRPr sz="1200">
                  <a:latin typeface="Red Hat Display"/>
                  <a:ea typeface="Red Hat Display"/>
                  <a:cs typeface="Red Hat Display"/>
                  <a:sym typeface="Red Hat Display"/>
                </a:endParaRPr>
              </a:p>
            </p:txBody>
          </p:sp>
        </p:grpSp>
        <p:pic>
          <p:nvPicPr>
            <p:cNvPr id="9674" name="Google Shape;9674;p781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3617589" y="3108261"/>
              <a:ext cx="717491" cy="2056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675" name="Google Shape;9675;p781"/>
            <p:cNvPicPr preferRelativeResize="0"/>
            <p:nvPr/>
          </p:nvPicPr>
          <p:blipFill rotWithShape="1">
            <a:blip r:embed="rId9">
              <a:alphaModFix/>
            </a:blip>
            <a:srcRect r="64363"/>
            <a:stretch/>
          </p:blipFill>
          <p:spPr>
            <a:xfrm>
              <a:off x="3830850" y="2554018"/>
              <a:ext cx="291891" cy="31353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676" name="Google Shape;9676;p781"/>
          <p:cNvGrpSpPr/>
          <p:nvPr/>
        </p:nvGrpSpPr>
        <p:grpSpPr>
          <a:xfrm>
            <a:off x="7480165" y="3725469"/>
            <a:ext cx="1240046" cy="2511283"/>
            <a:chOff x="5538898" y="2356463"/>
            <a:chExt cx="930300" cy="1884000"/>
          </a:xfrm>
        </p:grpSpPr>
        <p:sp>
          <p:nvSpPr>
            <p:cNvPr id="9657" name="Google Shape;9657;p781"/>
            <p:cNvSpPr/>
            <p:nvPr/>
          </p:nvSpPr>
          <p:spPr>
            <a:xfrm>
              <a:off x="5538898" y="2356463"/>
              <a:ext cx="930300" cy="188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>
              <a:outerShdw blurRad="76200" dist="2540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01" tIns="91401" rIns="91401" bIns="91401" anchor="b" anchorCtr="0">
              <a:noAutofit/>
            </a:bodyPr>
            <a:lstStyle/>
            <a:p>
              <a:pPr algn="ctr"/>
              <a:r>
                <a:rPr lang="en" sz="1200" b="1">
                  <a:solidFill>
                    <a:schemeClr val="lt1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Pod 3</a:t>
              </a:r>
              <a:endParaRPr sz="1200" b="1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9677" name="Google Shape;9677;p781"/>
            <p:cNvSpPr/>
            <p:nvPr/>
          </p:nvSpPr>
          <p:spPr>
            <a:xfrm>
              <a:off x="5574673" y="2565903"/>
              <a:ext cx="858900" cy="2919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01" tIns="91401" rIns="91401" bIns="91401" anchor="ctr" anchorCtr="0">
              <a:noAutofit/>
            </a:bodyPr>
            <a:lstStyle/>
            <a:p>
              <a:pPr algn="ctr"/>
              <a:endParaRPr sz="1400"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9678" name="Google Shape;9678;p781"/>
            <p:cNvSpPr/>
            <p:nvPr/>
          </p:nvSpPr>
          <p:spPr>
            <a:xfrm>
              <a:off x="5574673" y="3065173"/>
              <a:ext cx="858900" cy="2919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01" tIns="91401" rIns="91401" bIns="91401" anchor="ctr" anchorCtr="0">
              <a:noAutofit/>
            </a:bodyPr>
            <a:lstStyle/>
            <a:p>
              <a:pPr algn="ctr"/>
              <a:endParaRPr sz="1400"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grpSp>
          <p:nvGrpSpPr>
            <p:cNvPr id="9679" name="Google Shape;9679;p781"/>
            <p:cNvGrpSpPr/>
            <p:nvPr/>
          </p:nvGrpSpPr>
          <p:grpSpPr>
            <a:xfrm>
              <a:off x="5574673" y="3545131"/>
              <a:ext cx="858825" cy="414900"/>
              <a:chOff x="3854700" y="5011513"/>
              <a:chExt cx="1145100" cy="553200"/>
            </a:xfrm>
          </p:grpSpPr>
          <p:sp>
            <p:nvSpPr>
              <p:cNvPr id="9680" name="Google Shape;9680;p781"/>
              <p:cNvSpPr/>
              <p:nvPr/>
            </p:nvSpPr>
            <p:spPr>
              <a:xfrm>
                <a:off x="3854700" y="5011513"/>
                <a:ext cx="1145100" cy="553200"/>
              </a:xfrm>
              <a:prstGeom prst="roundRect">
                <a:avLst>
                  <a:gd name="adj" fmla="val 16667"/>
                </a:avLst>
              </a:prstGeom>
              <a:solidFill>
                <a:schemeClr val="lt1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01" tIns="91401" rIns="91401" bIns="91401" anchor="ctr" anchorCtr="0">
                <a:noAutofit/>
              </a:bodyPr>
              <a:lstStyle/>
              <a:p>
                <a:pPr algn="ctr"/>
                <a:endParaRPr sz="1400">
                  <a:latin typeface="Red Hat Display"/>
                  <a:ea typeface="Red Hat Display"/>
                  <a:cs typeface="Red Hat Display"/>
                  <a:sym typeface="Red Hat Display"/>
                </a:endParaRPr>
              </a:p>
            </p:txBody>
          </p:sp>
          <p:pic>
            <p:nvPicPr>
              <p:cNvPr id="9681" name="Google Shape;9681;p781"/>
              <p:cNvPicPr preferRelativeResize="0"/>
              <p:nvPr/>
            </p:nvPicPr>
            <p:blipFill>
              <a:blip r:embed="rId7">
                <a:alphaModFix/>
              </a:blip>
              <a:stretch>
                <a:fillRect/>
              </a:stretch>
            </p:blipFill>
            <p:spPr>
              <a:xfrm>
                <a:off x="4101050" y="5124304"/>
                <a:ext cx="652400" cy="226528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682" name="Google Shape;9682;p781"/>
              <p:cNvSpPr txBox="1"/>
              <p:nvPr/>
            </p:nvSpPr>
            <p:spPr>
              <a:xfrm>
                <a:off x="3995850" y="5320597"/>
                <a:ext cx="862800" cy="226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01" tIns="91401" rIns="91401" bIns="91401" anchor="ctr" anchorCtr="0">
                <a:noAutofit/>
              </a:bodyPr>
              <a:lstStyle/>
              <a:p>
                <a:pPr algn="ctr"/>
                <a:r>
                  <a:rPr lang="en" sz="1200">
                    <a:latin typeface="Red Hat Display"/>
                    <a:ea typeface="Red Hat Display"/>
                    <a:cs typeface="Red Hat Display"/>
                    <a:sym typeface="Red Hat Display"/>
                  </a:rPr>
                  <a:t>TPU</a:t>
                </a:r>
                <a:endParaRPr sz="1200">
                  <a:latin typeface="Red Hat Display"/>
                  <a:ea typeface="Red Hat Display"/>
                  <a:cs typeface="Red Hat Display"/>
                  <a:sym typeface="Red Hat Display"/>
                </a:endParaRPr>
              </a:p>
            </p:txBody>
          </p:sp>
        </p:grpSp>
        <p:pic>
          <p:nvPicPr>
            <p:cNvPr id="9683" name="Google Shape;9683;p781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5645340" y="3108261"/>
              <a:ext cx="717491" cy="2056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684" name="Google Shape;9684;p781"/>
            <p:cNvPicPr preferRelativeResize="0"/>
            <p:nvPr/>
          </p:nvPicPr>
          <p:blipFill>
            <a:blip r:embed="rId10">
              <a:alphaModFix/>
            </a:blip>
            <a:stretch>
              <a:fillRect/>
            </a:stretch>
          </p:blipFill>
          <p:spPr>
            <a:xfrm>
              <a:off x="5858594" y="2564827"/>
              <a:ext cx="291900" cy="29191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685" name="Google Shape;9685;p781"/>
          <p:cNvSpPr txBox="1"/>
          <p:nvPr/>
        </p:nvSpPr>
        <p:spPr>
          <a:xfrm>
            <a:off x="8933624" y="5333315"/>
            <a:ext cx="2094354" cy="402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91401" rIns="91401" bIns="91401" anchor="ctr" anchorCtr="0">
            <a:noAutofit/>
          </a:bodyPr>
          <a:lstStyle/>
          <a:p>
            <a:r>
              <a:rPr lang="en" sz="1500" b="1"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Accelerators</a:t>
            </a:r>
            <a:endParaRPr sz="1500" b="1">
              <a:solidFill>
                <a:schemeClr val="accen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686" name="Google Shape;9686;p781"/>
          <p:cNvSpPr txBox="1"/>
          <p:nvPr/>
        </p:nvSpPr>
        <p:spPr>
          <a:xfrm>
            <a:off x="8933624" y="4663448"/>
            <a:ext cx="2094354" cy="402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91401" rIns="91401" bIns="91401" anchor="ctr" anchorCtr="0">
            <a:noAutofit/>
          </a:bodyPr>
          <a:lstStyle/>
          <a:p>
            <a:r>
              <a:rPr lang="en" sz="1500" b="1"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Inference Server</a:t>
            </a:r>
            <a:endParaRPr sz="1500" b="1">
              <a:solidFill>
                <a:schemeClr val="accen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687" name="Google Shape;9687;p781"/>
          <p:cNvSpPr txBox="1"/>
          <p:nvPr/>
        </p:nvSpPr>
        <p:spPr>
          <a:xfrm>
            <a:off x="8933623" y="2865289"/>
            <a:ext cx="3102692" cy="402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91401" rIns="91401" bIns="91401" anchor="ctr" anchorCtr="0">
            <a:noAutofit/>
          </a:bodyPr>
          <a:lstStyle/>
          <a:p>
            <a:r>
              <a:rPr lang="en" sz="1500" b="1"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Distributed Inference Framework</a:t>
            </a:r>
            <a:endParaRPr sz="1500" b="1">
              <a:solidFill>
                <a:schemeClr val="accen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688" name="Google Shape;9688;p781"/>
          <p:cNvSpPr txBox="1"/>
          <p:nvPr/>
        </p:nvSpPr>
        <p:spPr>
          <a:xfrm>
            <a:off x="8933624" y="3993581"/>
            <a:ext cx="2094354" cy="402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91401" rIns="91401" bIns="91401" anchor="ctr" anchorCtr="0">
            <a:noAutofit/>
          </a:bodyPr>
          <a:lstStyle/>
          <a:p>
            <a:r>
              <a:rPr lang="en" sz="1500" b="1"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Models</a:t>
            </a:r>
            <a:endParaRPr sz="1500" b="1">
              <a:solidFill>
                <a:schemeClr val="accen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689" name="Google Shape;9689;p781"/>
          <p:cNvSpPr txBox="1"/>
          <p:nvPr/>
        </p:nvSpPr>
        <p:spPr>
          <a:xfrm>
            <a:off x="8933624" y="2165749"/>
            <a:ext cx="2094354" cy="402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91401" rIns="91401" bIns="91401" anchor="ctr" anchorCtr="0">
            <a:noAutofit/>
          </a:bodyPr>
          <a:lstStyle/>
          <a:p>
            <a:pPr algn="ctr"/>
            <a:r>
              <a:rPr lang="en" sz="1500" b="1"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AI Gateway/API Mgt</a:t>
            </a:r>
            <a:endParaRPr sz="1500" b="1">
              <a:solidFill>
                <a:schemeClr val="accen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690" name="Google Shape;9690;p781"/>
          <p:cNvSpPr/>
          <p:nvPr/>
        </p:nvSpPr>
        <p:spPr>
          <a:xfrm>
            <a:off x="8759918" y="5252492"/>
            <a:ext cx="106472" cy="645432"/>
          </a:xfrm>
          <a:prstGeom prst="rightBracket">
            <a:avLst>
              <a:gd name="adj" fmla="val 8333"/>
            </a:avLst>
          </a:prstGeom>
          <a:noFill/>
          <a:ln w="127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68" tIns="121868" rIns="121868" bIns="121868" anchor="ctr" anchorCtr="0">
            <a:noAutofit/>
          </a:bodyPr>
          <a:lstStyle/>
          <a:p>
            <a:pPr algn="ctr"/>
            <a:endParaRPr sz="1899"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691" name="Google Shape;9691;p781"/>
          <p:cNvSpPr/>
          <p:nvPr/>
        </p:nvSpPr>
        <p:spPr>
          <a:xfrm>
            <a:off x="8759918" y="4542043"/>
            <a:ext cx="106472" cy="645432"/>
          </a:xfrm>
          <a:prstGeom prst="rightBracket">
            <a:avLst>
              <a:gd name="adj" fmla="val 8333"/>
            </a:avLst>
          </a:prstGeom>
          <a:noFill/>
          <a:ln w="127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68" tIns="121868" rIns="121868" bIns="121868" anchor="ctr" anchorCtr="0">
            <a:noAutofit/>
          </a:bodyPr>
          <a:lstStyle/>
          <a:p>
            <a:pPr algn="ctr"/>
            <a:endParaRPr sz="1899"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692" name="Google Shape;9692;p781"/>
          <p:cNvSpPr/>
          <p:nvPr/>
        </p:nvSpPr>
        <p:spPr>
          <a:xfrm>
            <a:off x="8759918" y="3831595"/>
            <a:ext cx="106472" cy="645432"/>
          </a:xfrm>
          <a:prstGeom prst="rightBracket">
            <a:avLst>
              <a:gd name="adj" fmla="val 8333"/>
            </a:avLst>
          </a:prstGeom>
          <a:noFill/>
          <a:ln w="127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68" tIns="121868" rIns="121868" bIns="121868" anchor="ctr" anchorCtr="0">
            <a:noAutofit/>
          </a:bodyPr>
          <a:lstStyle/>
          <a:p>
            <a:pPr algn="ctr"/>
            <a:endParaRPr sz="1899"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693" name="Google Shape;9693;p781"/>
          <p:cNvSpPr/>
          <p:nvPr/>
        </p:nvSpPr>
        <p:spPr>
          <a:xfrm>
            <a:off x="8759918" y="2788317"/>
            <a:ext cx="106472" cy="881770"/>
          </a:xfrm>
          <a:prstGeom prst="rightBracket">
            <a:avLst>
              <a:gd name="adj" fmla="val 8333"/>
            </a:avLst>
          </a:prstGeom>
          <a:noFill/>
          <a:ln w="127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68" tIns="121868" rIns="121868" bIns="121868" anchor="ctr" anchorCtr="0">
            <a:noAutofit/>
          </a:bodyPr>
          <a:lstStyle/>
          <a:p>
            <a:pPr algn="ctr"/>
            <a:endParaRPr sz="1899"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694" name="Google Shape;9694;p781"/>
          <p:cNvSpPr/>
          <p:nvPr/>
        </p:nvSpPr>
        <p:spPr>
          <a:xfrm>
            <a:off x="723611" y="2268969"/>
            <a:ext cx="7996817" cy="388999"/>
          </a:xfrm>
          <a:prstGeom prst="rect">
            <a:avLst/>
          </a:prstGeom>
          <a:solidFill>
            <a:srgbClr val="FFFFFE"/>
          </a:solidFill>
          <a:ln w="127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01" tIns="91401" rIns="91401" bIns="91401" anchor="ctr" anchorCtr="0">
            <a:noAutofit/>
          </a:bodyPr>
          <a:lstStyle/>
          <a:p>
            <a:pPr algn="ctr"/>
            <a:r>
              <a:rPr lang="en" sz="1600" b="1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Model as a Service</a:t>
            </a:r>
            <a:endParaRPr sz="1600" b="1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695" name="Google Shape;9695;p781"/>
          <p:cNvSpPr/>
          <p:nvPr/>
        </p:nvSpPr>
        <p:spPr>
          <a:xfrm>
            <a:off x="8762584" y="2225513"/>
            <a:ext cx="106472" cy="457381"/>
          </a:xfrm>
          <a:prstGeom prst="rightBracket">
            <a:avLst>
              <a:gd name="adj" fmla="val 8333"/>
            </a:avLst>
          </a:prstGeom>
          <a:noFill/>
          <a:ln w="127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68" tIns="121868" rIns="121868" bIns="121868" anchor="ctr" anchorCtr="0">
            <a:noAutofit/>
          </a:bodyPr>
          <a:lstStyle/>
          <a:p>
            <a:pPr algn="ctr"/>
            <a:endParaRPr sz="1899"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696" name="Google Shape;9696;p781"/>
          <p:cNvSpPr txBox="1">
            <a:spLocks noGrp="1"/>
          </p:cNvSpPr>
          <p:nvPr>
            <p:ph type="subTitle" idx="1"/>
          </p:nvPr>
        </p:nvSpPr>
        <p:spPr>
          <a:xfrm>
            <a:off x="447658" y="56320"/>
            <a:ext cx="5147559" cy="816087"/>
          </a:xfrm>
          <a:prstGeom prst="rect">
            <a:avLst/>
          </a:prstGeom>
        </p:spPr>
        <p:txBody>
          <a:bodyPr spcFirstLastPara="1" vert="horz" wrap="square" lIns="438786" tIns="91401" rIns="91401" bIns="91401" rtlCol="0" anchor="ctr" anchorCtr="0">
            <a:noAutofit/>
          </a:bodyPr>
          <a:lstStyle/>
          <a:p>
            <a:pPr marL="0" indent="0"/>
            <a:r>
              <a:rPr lang="en" dirty="0"/>
              <a:t>Fast, flexible and scalable inference</a:t>
            </a:r>
            <a:endParaRPr dirty="0"/>
          </a:p>
        </p:txBody>
      </p:sp>
      <p:pic>
        <p:nvPicPr>
          <p:cNvPr id="9697" name="Google Shape;9697;p781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48854" y="3993567"/>
            <a:ext cx="975346" cy="722973"/>
          </a:xfrm>
          <a:prstGeom prst="rect">
            <a:avLst/>
          </a:prstGeom>
          <a:noFill/>
          <a:ln>
            <a:noFill/>
          </a:ln>
        </p:spPr>
      </p:pic>
      <p:pic>
        <p:nvPicPr>
          <p:cNvPr id="9698" name="Google Shape;9698;p781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2280486" y="4005274"/>
            <a:ext cx="527539" cy="527537"/>
          </a:xfrm>
          <a:prstGeom prst="rect">
            <a:avLst/>
          </a:prstGeom>
          <a:noFill/>
          <a:ln>
            <a:noFill/>
          </a:ln>
        </p:spPr>
      </p:pic>
      <p:pic>
        <p:nvPicPr>
          <p:cNvPr id="9699" name="Google Shape;9699;p781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64296" y="4001166"/>
            <a:ext cx="722940" cy="72296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700" name="Google Shape;9700;p781"/>
          <p:cNvCxnSpPr>
            <a:stCxn id="9694" idx="2"/>
            <a:endCxn id="9697" idx="0"/>
          </p:cNvCxnSpPr>
          <p:nvPr/>
        </p:nvCxnSpPr>
        <p:spPr>
          <a:xfrm rot="5400000">
            <a:off x="2311547" y="1583048"/>
            <a:ext cx="1335552" cy="3485392"/>
          </a:xfrm>
          <a:prstGeom prst="bentConnector3">
            <a:avLst>
              <a:gd name="adj1" fmla="val 50002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701" name="Google Shape;9701;p781"/>
          <p:cNvCxnSpPr>
            <a:stCxn id="9694" idx="2"/>
            <a:endCxn id="9698" idx="0"/>
          </p:cNvCxnSpPr>
          <p:nvPr/>
        </p:nvCxnSpPr>
        <p:spPr>
          <a:xfrm rot="5400000">
            <a:off x="2959529" y="2242726"/>
            <a:ext cx="1347249" cy="2177733"/>
          </a:xfrm>
          <a:prstGeom prst="bentConnector3">
            <a:avLst>
              <a:gd name="adj1" fmla="val 50002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702" name="Google Shape;9702;p781"/>
          <p:cNvCxnSpPr>
            <a:stCxn id="9694" idx="2"/>
            <a:endCxn id="9699" idx="0"/>
          </p:cNvCxnSpPr>
          <p:nvPr/>
        </p:nvCxnSpPr>
        <p:spPr>
          <a:xfrm rot="5400000">
            <a:off x="3552324" y="2831323"/>
            <a:ext cx="1343050" cy="996340"/>
          </a:xfrm>
          <a:prstGeom prst="bentConnector3">
            <a:avLst>
              <a:gd name="adj1" fmla="val 50006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703" name="Google Shape;9703;p781"/>
          <p:cNvSpPr/>
          <p:nvPr/>
        </p:nvSpPr>
        <p:spPr>
          <a:xfrm>
            <a:off x="723611" y="4894500"/>
            <a:ext cx="3363624" cy="402795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76200" dist="2540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01" tIns="91401" rIns="91401" bIns="91401" anchor="ctr" anchorCtr="0">
            <a:noAutofit/>
          </a:bodyPr>
          <a:lstStyle/>
          <a:p>
            <a:pPr algn="ctr"/>
            <a:r>
              <a:rPr lang="en" sz="1200" b="1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External Model Providers</a:t>
            </a:r>
            <a:endParaRPr sz="1200" b="1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"/>
            <a:ext cx="12188952" cy="645459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3811926" y="45720"/>
            <a:ext cx="426334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dirty="0"/>
              <a:t>Observability &amp; Monitoring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12" y="2003612"/>
            <a:ext cx="3200400" cy="32004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19492" y="2186492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6CC"/>
                </a:solidFill>
              </a:defRPr>
            </a:pPr>
            <a:r>
              <a:t>Prometheus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32" y="2735132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vLLM request rate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P95/P99 latency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GPU utilization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Cache hit rate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Queue depth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4212" y="2003612"/>
            <a:ext cx="3200400" cy="32004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77092" y="2186492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6CC"/>
                </a:solidFill>
              </a:defRPr>
            </a:pPr>
            <a:r>
              <a:t>Grafana Dashboards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8532" y="2735132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LLM Observability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Model health status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Request tracing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Resource usage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SLO tracking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1812" y="2003612"/>
            <a:ext cx="3200400" cy="32004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34692" y="2186492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6CC"/>
                </a:solidFill>
              </a:defRPr>
            </a:pPr>
            <a:r>
              <a:t>TrustyAI Audit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26132" y="2735132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Request logging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Bias detection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Drift analysis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Fairness metrics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Compliance reports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4008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65764" y="45720"/>
            <a:ext cx="315567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AI Application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1368921"/>
            <a:ext cx="6858000" cy="731520"/>
          </a:xfrm>
          <a:prstGeom prst="rect">
            <a:avLst/>
          </a:prstGeom>
          <a:solidFill>
            <a:srgbClr val="C85050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0" y="1550015"/>
            <a:ext cx="6858000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React SPA · AI Playground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2456676"/>
            <a:ext cx="6858000" cy="731520"/>
          </a:xfrm>
          <a:prstGeom prst="rect">
            <a:avLst/>
          </a:prstGeom>
          <a:solidFill>
            <a:srgbClr val="50A064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0" y="2637770"/>
            <a:ext cx="6858000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dirty="0" err="1"/>
              <a:t>FastAPI</a:t>
            </a:r>
            <a:r>
              <a:rPr dirty="0"/>
              <a:t> Orchestrator · Document Services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4619069"/>
            <a:ext cx="6858000" cy="731520"/>
          </a:xfrm>
          <a:prstGeom prst="rect">
            <a:avLst/>
          </a:prstGeom>
          <a:solidFill>
            <a:srgbClr val="A050C8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0" y="4800163"/>
            <a:ext cx="6858000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LLM Models (GPT-oss-20b · BGE-M3 · Qwen3)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3544431"/>
            <a:ext cx="6858000" cy="731520"/>
          </a:xfrm>
          <a:prstGeom prst="rect">
            <a:avLst/>
          </a:prstGeom>
          <a:solidFill>
            <a:srgbClr val="3C78B4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0" y="3725525"/>
            <a:ext cx="6858000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PostgreSQL 16 + pgvector · Redis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5667494"/>
            <a:ext cx="6858000" cy="731520"/>
          </a:xfrm>
          <a:prstGeom prst="rect">
            <a:avLst/>
          </a:prstGeom>
          <a:solidFill>
            <a:srgbClr val="646464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43200" y="5848588"/>
            <a:ext cx="6858000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OpenShift + RHOAI 3.5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"/>
            <a:ext cx="12188825" cy="645459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837542" y="45720"/>
            <a:ext cx="421211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GitOps-Driven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842247" y="1536999"/>
            <a:ext cx="1371600" cy="82296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42247" y="1536999"/>
            <a:ext cx="137160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Wave</a:t>
            </a:r>
          </a:p>
          <a:p>
            <a:r>
              <a:t>0-10</a:t>
            </a:r>
          </a:p>
        </p:txBody>
      </p:sp>
      <p:sp>
        <p:nvSpPr>
          <p:cNvPr id="6" name="Rectangle 5"/>
          <p:cNvSpPr/>
          <p:nvPr/>
        </p:nvSpPr>
        <p:spPr>
          <a:xfrm>
            <a:off x="3396727" y="1536999"/>
            <a:ext cx="3200400" cy="822960"/>
          </a:xfrm>
          <a:prstGeom prst="rect">
            <a:avLst/>
          </a:prstGeom>
          <a:solidFill>
            <a:srgbClr val="F5F5F5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579607" y="1536999"/>
            <a:ext cx="283464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Platform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1447" y="1794590"/>
            <a:ext cx="4101353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5C5C5C"/>
                </a:solidFill>
              </a:defRPr>
            </a:pPr>
            <a:r>
              <a:rPr dirty="0">
                <a:latin typeface="Abadi" panose="020B0604020104020204" pitchFamily="34" charset="77"/>
              </a:rPr>
              <a:t>Namespaces · RBAC · Operators</a:t>
            </a:r>
          </a:p>
        </p:txBody>
      </p:sp>
      <p:sp>
        <p:nvSpPr>
          <p:cNvPr id="9" name="Rectangle 8"/>
          <p:cNvSpPr/>
          <p:nvPr/>
        </p:nvSpPr>
        <p:spPr>
          <a:xfrm>
            <a:off x="1842247" y="2497119"/>
            <a:ext cx="1371600" cy="82296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42247" y="2497119"/>
            <a:ext cx="137160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Wave</a:t>
            </a:r>
          </a:p>
          <a:p>
            <a:r>
              <a:t>10-20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96727" y="2497119"/>
            <a:ext cx="3200400" cy="822960"/>
          </a:xfrm>
          <a:prstGeom prst="rect">
            <a:avLst/>
          </a:prstGeom>
          <a:solidFill>
            <a:srgbClr val="F5F5F5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9607" y="2497119"/>
            <a:ext cx="283464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Application Infrastructure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1447" y="2754710"/>
            <a:ext cx="4101353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5C5C5C"/>
                </a:solidFill>
              </a:defRPr>
            </a:pPr>
            <a:r>
              <a:rPr>
                <a:latin typeface="Abadi" panose="020B0604020104020204" pitchFamily="34" charset="77"/>
              </a:rPr>
              <a:t>PostgreSQL · Redis · Secrets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42247" y="3457239"/>
            <a:ext cx="1371600" cy="82296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842247" y="3457239"/>
            <a:ext cx="137160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Wave</a:t>
            </a:r>
          </a:p>
          <a:p>
            <a:r>
              <a:t>20-30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6727" y="3457239"/>
            <a:ext cx="3200400" cy="822960"/>
          </a:xfrm>
          <a:prstGeom prst="rect">
            <a:avLst/>
          </a:prstGeom>
          <a:solidFill>
            <a:srgbClr val="F5F5F5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79607" y="3457239"/>
            <a:ext cx="283464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Application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1447" y="3714830"/>
            <a:ext cx="4101353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5C5C5C"/>
                </a:solidFill>
              </a:defRPr>
            </a:pPr>
            <a:r>
              <a:rPr>
                <a:latin typeface="Abadi" panose="020B0604020104020204" pitchFamily="34" charset="77"/>
              </a:rPr>
              <a:t>iso-api · iso-web · Playground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42247" y="4417359"/>
            <a:ext cx="1371600" cy="822960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842247" y="4417359"/>
            <a:ext cx="137160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Wave</a:t>
            </a:r>
          </a:p>
          <a:p>
            <a:r>
              <a:t>40+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96727" y="4417359"/>
            <a:ext cx="3200400" cy="822960"/>
          </a:xfrm>
          <a:prstGeom prst="rect">
            <a:avLst/>
          </a:prstGeom>
          <a:solidFill>
            <a:srgbClr val="F5F5F5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579607" y="4417359"/>
            <a:ext cx="283464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Data Population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1447" y="4674950"/>
            <a:ext cx="4101353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5C5C5C"/>
                </a:solidFill>
              </a:defRPr>
            </a:pPr>
            <a:r>
              <a:rPr>
                <a:latin typeface="Abadi" panose="020B0604020104020204" pitchFamily="34" charset="77"/>
              </a:rPr>
              <a:t>RAG ingestion · Embeddings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66CC"/>
                </a:solidFill>
              </a:defRPr>
            </a:pPr>
            <a:r>
              <a:rPr dirty="0"/>
              <a:t>OpenShift </a:t>
            </a:r>
            <a:r>
              <a:rPr dirty="0" err="1"/>
              <a:t>GitOps</a:t>
            </a:r>
            <a:r>
              <a:rPr dirty="0"/>
              <a:t> (</a:t>
            </a:r>
            <a:r>
              <a:rPr dirty="0" err="1"/>
              <a:t>ArgoCD</a:t>
            </a:r>
            <a:r>
              <a:rPr dirty="0"/>
              <a:t>) · Declarative · Auditable · Auto-sync · Rollback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5890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876175" y="45720"/>
            <a:ext cx="41348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Enterprise Value Delivered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9589" y="1600200"/>
            <a:ext cx="5029200" cy="18288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13909" y="17830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0000"/>
                </a:solidFill>
              </a:defRPr>
            </a:pPr>
            <a:r>
              <a:t>Production-Ready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5349" y="224028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Enterprise security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High availability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Auto-scaling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Disaster recovery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5989" y="1600200"/>
            <a:ext cx="5029200" cy="18288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00309" y="17830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0000"/>
                </a:solidFill>
              </a:defRPr>
            </a:pPr>
            <a:r>
              <a:t>Operational Excellence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1749" y="224028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Full observability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GitOps automation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Zero downtime updates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Compliance ready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9589" y="3703320"/>
            <a:ext cx="5029200" cy="18288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3909" y="38862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0000"/>
                </a:solidFill>
              </a:defRPr>
            </a:pPr>
            <a:r>
              <a:t>Developer Productivity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5349" y="43434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OpenAI-compatible API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Multi-model support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Self-service platform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Fast iteration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5989" y="3703320"/>
            <a:ext cx="5029200" cy="18288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00309" y="38862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0000"/>
                </a:solidFill>
              </a:defRPr>
            </a:pPr>
            <a:r>
              <a:t>Cost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1749" y="43434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GPU efficiency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Resource pooling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Usage tracking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On-prem + cloud hybrid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Dune</Template>
  <TotalTime>44</TotalTime>
  <Words>808</Words>
  <Application>Microsoft Macintosh PowerPoint</Application>
  <PresentationFormat>Custom</PresentationFormat>
  <Paragraphs>179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2" baseType="lpstr">
      <vt:lpstr>Abadi</vt:lpstr>
      <vt:lpstr>Aptos</vt:lpstr>
      <vt:lpstr>Arial</vt:lpstr>
      <vt:lpstr>Calibri</vt:lpstr>
      <vt:lpstr>Red Hat Display</vt:lpstr>
      <vt:lpstr>Red Hat Display Medium</vt:lpstr>
      <vt:lpstr>Red Hat Display SemiBold</vt:lpstr>
      <vt:lpstr>Red Hat Text</vt:lpstr>
      <vt:lpstr>Red Hat Text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Enterprise GenAI inference platform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Yaakov Preiger</cp:lastModifiedBy>
  <cp:revision>4</cp:revision>
  <dcterms:created xsi:type="dcterms:W3CDTF">2013-01-27T09:14:16Z</dcterms:created>
  <dcterms:modified xsi:type="dcterms:W3CDTF">2026-07-24T19:08:08Z</dcterms:modified>
  <cp:category/>
</cp:coreProperties>
</file>