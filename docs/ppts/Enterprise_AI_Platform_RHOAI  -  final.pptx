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  <p:sldId id="266" r:id="rId8"/>
    <p:sldId id="262" r:id="rId9"/>
    <p:sldId id="264" r:id="rId10"/>
    <p:sldId id="263" r:id="rId11"/>
    <p:sldId id="265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47"/>
    <p:restoredTop sz="94665"/>
  </p:normalViewPr>
  <p:slideViewPr>
    <p:cSldViewPr snapToGrid="0" snapToObjects="1">
      <p:cViewPr varScale="1">
        <p:scale>
          <a:sx n="95" d="100"/>
          <a:sy n="95" d="100"/>
        </p:scale>
        <p:origin x="200" y="7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51084" y="1331259"/>
            <a:ext cx="10286662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000000"/>
                </a:solidFill>
              </a:defRPr>
            </a:pPr>
            <a:r>
              <a:rPr dirty="0"/>
              <a:t>Enterprise-Grade AI</a:t>
            </a:r>
            <a:r>
              <a:rPr lang="en-US" dirty="0"/>
              <a:t> Application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2842946" y="2519979"/>
            <a:ext cx="650293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5C5C5C"/>
                </a:solidFill>
              </a:defRPr>
            </a:pPr>
            <a:r>
              <a:rPr lang="en-US" dirty="0"/>
              <a:t>On </a:t>
            </a:r>
            <a:r>
              <a:rPr dirty="0"/>
              <a:t>Red Hat OpenShift AI</a:t>
            </a:r>
            <a:r>
              <a:rPr lang="en-US" dirty="0"/>
              <a:t> Platform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2168786" y="3617259"/>
            <a:ext cx="785125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C5C5C"/>
                </a:solidFill>
              </a:defRPr>
            </a:pPr>
            <a:r>
              <a:rPr dirty="0"/>
              <a:t>Model as a Service  · Guardrails  · RAG  ·  </a:t>
            </a:r>
            <a:r>
              <a:rPr dirty="0" err="1"/>
              <a:t>GitOps</a:t>
            </a:r>
            <a:r>
              <a:rPr dirty="0"/>
              <a:t>  ·  Enterprise </a:t>
            </a:r>
            <a:r>
              <a:rPr lang="en-US" dirty="0"/>
              <a:t>Architecture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A8DF7A-55F3-C00C-D110-59CB81493439}"/>
              </a:ext>
            </a:extLst>
          </p:cNvPr>
          <p:cNvSpPr txBox="1"/>
          <p:nvPr/>
        </p:nvSpPr>
        <p:spPr>
          <a:xfrm>
            <a:off x="3425174" y="4784266"/>
            <a:ext cx="5311582" cy="143116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C5C5C"/>
                </a:solidFill>
              </a:defRPr>
            </a:pPr>
            <a:r>
              <a:rPr lang="en-US" dirty="0"/>
              <a:t>AI Engineering course – class #7 - February 2026</a:t>
            </a:r>
          </a:p>
          <a:p>
            <a:pPr algn="ctr">
              <a:defRPr sz="2000">
                <a:solidFill>
                  <a:srgbClr val="5C5C5C"/>
                </a:solidFill>
              </a:defRPr>
            </a:pPr>
            <a:r>
              <a:rPr lang="en-IL" sz="2700" dirty="0"/>
              <a:t>The Hebrew University of Jerusalem</a:t>
            </a:r>
            <a:r>
              <a:rPr lang="en-US" sz="2700" dirty="0"/>
              <a:t> </a:t>
            </a:r>
          </a:p>
          <a:p>
            <a:pPr algn="ctr">
              <a:defRPr sz="2000">
                <a:solidFill>
                  <a:srgbClr val="5C5C5C"/>
                </a:solidFill>
              </a:defRPr>
            </a:pPr>
            <a:endParaRPr lang="en-US" dirty="0"/>
          </a:p>
          <a:p>
            <a:pPr algn="ctr">
              <a:defRPr sz="2000">
                <a:solidFill>
                  <a:srgbClr val="5C5C5C"/>
                </a:solidFill>
              </a:defRPr>
            </a:pPr>
            <a:r>
              <a:rPr lang="en-US" dirty="0"/>
              <a:t>By Yaakov Preiger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88825" cy="618565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363246" y="45720"/>
            <a:ext cx="516070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Enterprise Security &amp; Compliance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5486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lang="en-US" dirty="0"/>
              <a:t>Red Hat OpenShift AI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748118"/>
            <a:ext cx="3200400" cy="3657600"/>
          </a:xfrm>
          <a:prstGeom prst="roundRect">
            <a:avLst/>
          </a:prstGeom>
          <a:solidFill>
            <a:srgbClr val="0066CC"/>
          </a:solidFill>
          <a:ln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022438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Model Serving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45398"/>
            <a:ext cx="2651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KServe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vLLM Runtime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LLMInferenceService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Auto-scaling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748118"/>
            <a:ext cx="3200400" cy="3657600"/>
          </a:xfrm>
          <a:prstGeom prst="roundRect">
            <a:avLst/>
          </a:prstGeom>
          <a:solidFill>
            <a:srgbClr val="7030A0"/>
          </a:solidFill>
          <a:ln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2022438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AI 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845398"/>
            <a:ext cx="2651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TrustyAI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Guardrails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Bias Detection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Audit 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748118"/>
            <a:ext cx="3200400" cy="3657600"/>
          </a:xfrm>
          <a:prstGeom prst="roundRect">
            <a:avLst/>
          </a:prstGeom>
          <a:solidFill>
            <a:srgbClr val="92D050"/>
          </a:solidFill>
          <a:ln>
            <a:solidFill>
              <a:srgbClr val="92D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0" y="2022438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Developer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845398"/>
            <a:ext cx="2651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Jupyter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Pipelines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Model Registry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GitOps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6697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dirty="0"/>
              <a:t>RHOAI 3.5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85047" y="1344706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567927" y="1436146"/>
            <a:ext cx="27432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Application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85447" y="1436146"/>
            <a:ext cx="5486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iso-web  ·  iso-api  ·  AI Playground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385047" y="2259106"/>
            <a:ext cx="9144000" cy="109728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67927" y="2350546"/>
            <a:ext cx="2743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Model as a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5447" y="2350546"/>
            <a:ext cx="5486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/>
              <a:t>GPT-oss-20b (21B </a:t>
            </a:r>
            <a:r>
              <a:rPr dirty="0" err="1"/>
              <a:t>MoE</a:t>
            </a:r>
            <a:r>
              <a:rPr dirty="0"/>
              <a:t>)  ·  BGE-M3 Embeddings  ·  Qwen3-4B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85047" y="4453666"/>
            <a:ext cx="9144000" cy="73152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67927" y="4545106"/>
            <a:ext cx="27432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Inference &amp; Serving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5447" y="4545106"/>
            <a:ext cx="5486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KServe  ·  vLLM  ·  LLMInferenceService CRDs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85047" y="3539266"/>
            <a:ext cx="9144000" cy="73152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67927" y="3630706"/>
            <a:ext cx="27432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AI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5447" y="3630706"/>
            <a:ext cx="5486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TrustyAI  ·  Guardrails Orchestrator  ·  Kuadrant + Authorino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85047" y="5459506"/>
            <a:ext cx="9144000" cy="731520"/>
          </a:xfrm>
          <a:prstGeom prst="rect">
            <a:avLst/>
          </a:prstGeom>
          <a:solidFill>
            <a:srgbClr val="5C5C5C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67927" y="5550946"/>
            <a:ext cx="27432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5447" y="5550946"/>
            <a:ext cx="5486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OpenShift 4.x  ·  Operators  ·  GPU Nodes (NVIDIA L40)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88825" cy="618565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95393" y="45720"/>
            <a:ext cx="609641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/>
              <a:t>Infrastructure &amp; Resource Management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5029200" cy="411480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0116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66CC"/>
                </a:solidFill>
              </a:defRPr>
            </a:pPr>
            <a:r>
              <a:t>OpenShift Container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45720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Namespace Isolation (iso-platform, </a:t>
            </a:r>
            <a:r>
              <a:rPr sz="1600" dirty="0" err="1"/>
              <a:t>llm</a:t>
            </a:r>
            <a:r>
              <a:rPr sz="1600" dirty="0"/>
              <a:t>, </a:t>
            </a:r>
            <a:r>
              <a:rPr sz="1600" dirty="0" err="1"/>
              <a:t>grafana</a:t>
            </a:r>
            <a:r>
              <a:rPr sz="1600" dirty="0"/>
              <a:t>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RBAC &amp; </a:t>
            </a:r>
            <a:r>
              <a:rPr sz="1600" dirty="0" err="1"/>
              <a:t>ServiceAccounts</a:t>
            </a:r>
            <a:endParaRPr sz="1600" dirty="0"/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Routes (TLS edge termination)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GPU Node Scheduling (L40 48GB VRAM)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</a:t>
            </a:r>
            <a:r>
              <a:rPr sz="1600" dirty="0" err="1"/>
              <a:t>StatefulSets</a:t>
            </a:r>
            <a:r>
              <a:rPr sz="1600" dirty="0"/>
              <a:t> (PostgreSQL + </a:t>
            </a:r>
            <a:r>
              <a:rPr sz="1600" dirty="0" err="1"/>
              <a:t>pgvector</a:t>
            </a:r>
            <a:r>
              <a:rPr sz="1600" dirty="0"/>
              <a:t>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</a:t>
            </a:r>
            <a:r>
              <a:rPr sz="1600" dirty="0" err="1"/>
              <a:t>ConfigMaps</a:t>
            </a:r>
            <a:r>
              <a:rPr sz="1600" dirty="0"/>
              <a:t> &amp; Secrets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5029200" cy="4114800"/>
          </a:xfrm>
          <a:prstGeom prst="roundRect">
            <a:avLst/>
          </a:prstGeom>
          <a:solidFill>
            <a:srgbClr val="FFF0F0"/>
          </a:solidFill>
          <a:ln w="25400">
            <a:solidFill>
              <a:srgbClr val="E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E0000"/>
                </a:solidFill>
              </a:defRPr>
            </a:pPr>
            <a:r>
              <a:t>Red Hat OpenShift AI Operator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743200"/>
            <a:ext cx="3818965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Model Serving (</a:t>
            </a:r>
            <a:r>
              <a:rPr sz="1600" dirty="0" err="1"/>
              <a:t>KServe</a:t>
            </a:r>
            <a:r>
              <a:rPr sz="1600" dirty="0"/>
              <a:t>, </a:t>
            </a:r>
            <a:r>
              <a:rPr sz="1600" dirty="0" err="1"/>
              <a:t>vLLM</a:t>
            </a:r>
            <a:r>
              <a:rPr sz="1600" dirty="0"/>
              <a:t>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</a:t>
            </a:r>
            <a:r>
              <a:rPr sz="1600" dirty="0" err="1"/>
              <a:t>MaaS</a:t>
            </a:r>
            <a:r>
              <a:rPr sz="1600" dirty="0"/>
              <a:t> Gateway (</a:t>
            </a:r>
            <a:r>
              <a:rPr sz="1600" dirty="0" err="1"/>
              <a:t>Kuadrant</a:t>
            </a:r>
            <a:r>
              <a:rPr sz="1600" dirty="0"/>
              <a:t> API </a:t>
            </a:r>
            <a:r>
              <a:rPr sz="1600" dirty="0" err="1"/>
              <a:t>mgmt</a:t>
            </a:r>
            <a:r>
              <a:rPr sz="1600" dirty="0"/>
              <a:t>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</a:t>
            </a:r>
            <a:r>
              <a:rPr sz="1600" dirty="0" err="1"/>
              <a:t>TrustyAI</a:t>
            </a:r>
            <a:r>
              <a:rPr sz="1600" dirty="0"/>
              <a:t> Service (Observability)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Ray Operator (Distributed ML)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</a:t>
            </a:r>
            <a:r>
              <a:rPr sz="1600" dirty="0" err="1"/>
              <a:t>MLflow</a:t>
            </a:r>
            <a:r>
              <a:rPr sz="1600" dirty="0"/>
              <a:t> (Experiment Tracking)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Data Science Pipelines (</a:t>
            </a:r>
            <a:r>
              <a:rPr sz="1600" dirty="0" err="1"/>
              <a:t>Tekton</a:t>
            </a:r>
            <a:r>
              <a:rPr sz="1600" dirty="0"/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12" cy="63201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190570" y="45720"/>
            <a:ext cx="550605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/>
              <a:t>Model as a Service (</a:t>
            </a:r>
            <a:r>
              <a:rPr dirty="0" err="1"/>
              <a:t>MaaS</a:t>
            </a:r>
            <a:r>
              <a:rPr dirty="0"/>
              <a:t>) Gateway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26344" y="1707776"/>
            <a:ext cx="5446056" cy="852544"/>
          </a:xfrm>
          <a:prstGeom prst="round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2326344" y="1779061"/>
            <a:ext cx="5446056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2400"/>
              <a:t>Application</a:t>
            </a:r>
          </a:p>
          <a:p>
            <a:pPr algn="ctr"/>
            <a:r>
              <a:rPr sz="2400"/>
              <a:t>(iso-api, playground)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2560320"/>
            <a:ext cx="0" cy="365760"/>
          </a:xfrm>
          <a:prstGeom prst="line">
            <a:avLst/>
          </a:prstGeom>
          <a:ln w="38100">
            <a:solidFill>
              <a:srgbClr val="5C5C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26344" y="2805056"/>
            <a:ext cx="5446056" cy="852544"/>
          </a:xfrm>
          <a:prstGeom prst="round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2326344" y="2876341"/>
            <a:ext cx="5446056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2400"/>
              <a:t>MaaS Gateway</a:t>
            </a:r>
          </a:p>
          <a:p>
            <a:pPr algn="ctr"/>
            <a:r>
              <a:rPr sz="2400"/>
              <a:t>(Kuadrant + Authorino)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3657600"/>
            <a:ext cx="0" cy="365760"/>
          </a:xfrm>
          <a:prstGeom prst="line">
            <a:avLst/>
          </a:prstGeom>
          <a:ln w="38100">
            <a:solidFill>
              <a:srgbClr val="5C5C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26344" y="3902336"/>
            <a:ext cx="5446056" cy="852544"/>
          </a:xfrm>
          <a:prstGeom prst="round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2326344" y="3973621"/>
            <a:ext cx="5446056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2400"/>
              <a:t>TrustyAI</a:t>
            </a:r>
          </a:p>
          <a:p>
            <a:pPr algn="ctr"/>
            <a:r>
              <a:rPr sz="2400"/>
              <a:t>(Observability &amp; Guardrails)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4754880"/>
            <a:ext cx="0" cy="365760"/>
          </a:xfrm>
          <a:prstGeom prst="line">
            <a:avLst/>
          </a:prstGeom>
          <a:ln w="38100">
            <a:solidFill>
              <a:srgbClr val="5C5C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326344" y="4999616"/>
            <a:ext cx="5446056" cy="852544"/>
          </a:xfrm>
          <a:prstGeom prst="round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2326344" y="5070901"/>
            <a:ext cx="5446056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2400"/>
              <a:t>Model Inference</a:t>
            </a:r>
          </a:p>
          <a:p>
            <a:pPr algn="ctr"/>
            <a:r>
              <a:rPr sz="2400"/>
              <a:t>(vLLM on GPU)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82880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EE0000"/>
                </a:solidFill>
              </a:defRPr>
            </a:pPr>
            <a:r>
              <a:t>MaaS Benefits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✓ OpenAI-compatible API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✓ Multi-tenancy &amp; quotas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✓ JWT authentication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✓ Rate limiting per tier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✓ Request/response logging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✓ Bias detection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✓ Content guardrails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CED90-8A52-21BA-A161-E578EF568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440AD3-21C9-32EA-4A4A-0738EEAD46EF}"/>
              </a:ext>
            </a:extLst>
          </p:cNvPr>
          <p:cNvSpPr/>
          <p:nvPr/>
        </p:nvSpPr>
        <p:spPr>
          <a:xfrm>
            <a:off x="0" y="-1"/>
            <a:ext cx="12188825" cy="618565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2499B8-0E0B-0535-9F72-01D2E9D8B6BB}"/>
              </a:ext>
            </a:extLst>
          </p:cNvPr>
          <p:cNvSpPr txBox="1"/>
          <p:nvPr/>
        </p:nvSpPr>
        <p:spPr>
          <a:xfrm>
            <a:off x="3363246" y="45720"/>
            <a:ext cx="516070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Enterprise Security &amp; Compliance</a:t>
            </a:r>
          </a:p>
        </p:txBody>
      </p:sp>
    </p:spTree>
    <p:extLst>
      <p:ext uri="{BB962C8B-B14F-4D97-AF65-F5344CB8AC3E}">
        <p14:creationId xmlns:p14="http://schemas.microsoft.com/office/powerpoint/2010/main" val="32468418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88952" cy="645459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3811926" y="45720"/>
            <a:ext cx="426334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/>
              <a:t>Observability &amp; Monitoring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12" y="2003612"/>
            <a:ext cx="3200400" cy="32004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19492" y="2186492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CC"/>
                </a:solidFill>
              </a:defRPr>
            </a:pPr>
            <a:r>
              <a:t>Prometheus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32" y="2735132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vLLM request rate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P95/P99 latency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GPU utilization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Cache hit rate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Queue depth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4212" y="2003612"/>
            <a:ext cx="3200400" cy="32004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77092" y="2186492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CC"/>
                </a:solidFill>
              </a:defRPr>
            </a:pPr>
            <a:r>
              <a:t>Grafana Dashboards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8532" y="2735132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LLM Observability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Model health status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Request tracing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Resource usage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SLO tracking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1812" y="2003612"/>
            <a:ext cx="3200400" cy="32004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34692" y="2186492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CC"/>
                </a:solidFill>
              </a:defRPr>
            </a:pPr>
            <a:r>
              <a:t>TrustyAI Audit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6132" y="2735132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Request logging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Bias detection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Drift analysis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Fairness metrics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Compliance reports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4008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65764" y="45720"/>
            <a:ext cx="315567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AI Application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1368921"/>
            <a:ext cx="6858000" cy="731520"/>
          </a:xfrm>
          <a:prstGeom prst="rect">
            <a:avLst/>
          </a:prstGeom>
          <a:solidFill>
            <a:srgbClr val="C85050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1550015"/>
            <a:ext cx="685800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React SPA · AI Playground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2456676"/>
            <a:ext cx="6858000" cy="731520"/>
          </a:xfrm>
          <a:prstGeom prst="rect">
            <a:avLst/>
          </a:prstGeom>
          <a:solidFill>
            <a:srgbClr val="50A064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0" y="2637770"/>
            <a:ext cx="685800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 err="1"/>
              <a:t>FastAPI</a:t>
            </a:r>
            <a:r>
              <a:rPr dirty="0"/>
              <a:t> Orchestrator · Document Services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4619069"/>
            <a:ext cx="6858000" cy="731520"/>
          </a:xfrm>
          <a:prstGeom prst="rect">
            <a:avLst/>
          </a:prstGeom>
          <a:solidFill>
            <a:srgbClr val="A050C8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0" y="4800163"/>
            <a:ext cx="685800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LLM Models (GPT-oss-20b · BGE-M3 · Qwen3)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3544431"/>
            <a:ext cx="6858000" cy="731520"/>
          </a:xfrm>
          <a:prstGeom prst="rect">
            <a:avLst/>
          </a:prstGeom>
          <a:solidFill>
            <a:srgbClr val="3C78B4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0" y="3725525"/>
            <a:ext cx="685800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PostgreSQL 16 + pgvector · Redis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5667494"/>
            <a:ext cx="6858000" cy="731520"/>
          </a:xfrm>
          <a:prstGeom prst="rect">
            <a:avLst/>
          </a:prstGeom>
          <a:solidFill>
            <a:srgbClr val="646464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43200" y="5848588"/>
            <a:ext cx="685800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OpenShift + RHOAI 3.5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88825" cy="645459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37542" y="45720"/>
            <a:ext cx="421211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GitOps-Driven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42247" y="1536999"/>
            <a:ext cx="1371600" cy="82296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42247" y="1536999"/>
            <a:ext cx="137160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Wave</a:t>
            </a:r>
          </a:p>
          <a:p>
            <a:r>
              <a:t>0-10</a:t>
            </a:r>
          </a:p>
        </p:txBody>
      </p:sp>
      <p:sp>
        <p:nvSpPr>
          <p:cNvPr id="6" name="Rectangle 5"/>
          <p:cNvSpPr/>
          <p:nvPr/>
        </p:nvSpPr>
        <p:spPr>
          <a:xfrm>
            <a:off x="3396727" y="1536999"/>
            <a:ext cx="3200400" cy="822960"/>
          </a:xfrm>
          <a:prstGeom prst="rect">
            <a:avLst/>
          </a:prstGeom>
          <a:solidFill>
            <a:srgbClr val="F5F5F5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79607" y="1536999"/>
            <a:ext cx="283464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Platform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1447" y="1794590"/>
            <a:ext cx="4101353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C5C5C"/>
                </a:solidFill>
              </a:defRPr>
            </a:pPr>
            <a:r>
              <a:rPr dirty="0">
                <a:latin typeface="Abadi" panose="020B0604020104020204" pitchFamily="34" charset="77"/>
              </a:rPr>
              <a:t>Namespaces · RBAC · Operators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42247" y="2497119"/>
            <a:ext cx="1371600" cy="82296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42247" y="2497119"/>
            <a:ext cx="137160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Wave</a:t>
            </a:r>
          </a:p>
          <a:p>
            <a:r>
              <a:t>10-20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6727" y="2497119"/>
            <a:ext cx="3200400" cy="822960"/>
          </a:xfrm>
          <a:prstGeom prst="rect">
            <a:avLst/>
          </a:prstGeom>
          <a:solidFill>
            <a:srgbClr val="F5F5F5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9607" y="2497119"/>
            <a:ext cx="283464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Application 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1447" y="2754710"/>
            <a:ext cx="4101353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C5C5C"/>
                </a:solidFill>
              </a:defRPr>
            </a:pPr>
            <a:r>
              <a:rPr>
                <a:latin typeface="Abadi" panose="020B0604020104020204" pitchFamily="34" charset="77"/>
              </a:rPr>
              <a:t>PostgreSQL · Redis · Secrets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42247" y="3457239"/>
            <a:ext cx="1371600" cy="8229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842247" y="3457239"/>
            <a:ext cx="137160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Wave</a:t>
            </a:r>
          </a:p>
          <a:p>
            <a:r>
              <a:t>20-30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6727" y="3457239"/>
            <a:ext cx="3200400" cy="822960"/>
          </a:xfrm>
          <a:prstGeom prst="rect">
            <a:avLst/>
          </a:prstGeom>
          <a:solidFill>
            <a:srgbClr val="F5F5F5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79607" y="3457239"/>
            <a:ext cx="283464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Application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1447" y="3714830"/>
            <a:ext cx="4101353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C5C5C"/>
                </a:solidFill>
              </a:defRPr>
            </a:pPr>
            <a:r>
              <a:rPr>
                <a:latin typeface="Abadi" panose="020B0604020104020204" pitchFamily="34" charset="77"/>
              </a:rPr>
              <a:t>iso-api · iso-web · Playground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42247" y="4417359"/>
            <a:ext cx="1371600" cy="82296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842247" y="4417359"/>
            <a:ext cx="137160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Wave</a:t>
            </a:r>
          </a:p>
          <a:p>
            <a:r>
              <a:t>40+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96727" y="4417359"/>
            <a:ext cx="3200400" cy="822960"/>
          </a:xfrm>
          <a:prstGeom prst="rect">
            <a:avLst/>
          </a:prstGeom>
          <a:solidFill>
            <a:srgbClr val="F5F5F5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579607" y="4417359"/>
            <a:ext cx="283464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Data Population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447" y="4674950"/>
            <a:ext cx="4101353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C5C5C"/>
                </a:solidFill>
              </a:defRPr>
            </a:pPr>
            <a:r>
              <a:rPr>
                <a:latin typeface="Abadi" panose="020B0604020104020204" pitchFamily="34" charset="77"/>
              </a:rPr>
              <a:t>RAG ingestion · Embeddings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66CC"/>
                </a:solidFill>
              </a:defRPr>
            </a:pPr>
            <a:r>
              <a:rPr dirty="0"/>
              <a:t>OpenShift </a:t>
            </a:r>
            <a:r>
              <a:rPr dirty="0" err="1"/>
              <a:t>GitOps</a:t>
            </a:r>
            <a:r>
              <a:rPr dirty="0"/>
              <a:t> (</a:t>
            </a:r>
            <a:r>
              <a:rPr dirty="0" err="1"/>
              <a:t>ArgoCD</a:t>
            </a:r>
            <a:r>
              <a:rPr dirty="0"/>
              <a:t>) · Declarative · Auditable · Auto-sync · Rollback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5890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76175" y="45720"/>
            <a:ext cx="41348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Enterprise Value Delivered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9589" y="1600200"/>
            <a:ext cx="5029200" cy="18288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13909" y="17830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00"/>
                </a:solidFill>
              </a:defRPr>
            </a:pPr>
            <a:r>
              <a:t>Production-Ready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5349" y="224028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Enterprise security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High availability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Auto-scaling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Disaster recovery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5989" y="1600200"/>
            <a:ext cx="5029200" cy="18288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00309" y="17830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00"/>
                </a:solidFill>
              </a:defRPr>
            </a:pPr>
            <a:r>
              <a:t>Operational Excellence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1749" y="224028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Full observability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GitOps automation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Zero downtime updates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Compliance ready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9589" y="3703320"/>
            <a:ext cx="5029200" cy="18288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3909" y="38862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00"/>
                </a:solidFill>
              </a:defRPr>
            </a:pPr>
            <a:r>
              <a:t>Developer Productivity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5349" y="43434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OpenAI-compatible API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Multi-model support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Self-service platform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Fast iteration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5989" y="3703320"/>
            <a:ext cx="5029200" cy="18288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00309" y="38862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00"/>
                </a:solidFill>
              </a:defRPr>
            </a:pPr>
            <a:r>
              <a:t>Cost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1749" y="43434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GPU efficiency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Resource pooling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Usage tracking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On-prem + cloud hybrid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Dune</Template>
  <TotalTime>28</TotalTime>
  <Words>506</Words>
  <Application>Microsoft Macintosh PowerPoint</Application>
  <PresentationFormat>Custom</PresentationFormat>
  <Paragraphs>132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Abadi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Yaakov Preiger</cp:lastModifiedBy>
  <cp:revision>3</cp:revision>
  <dcterms:created xsi:type="dcterms:W3CDTF">2013-01-27T09:14:16Z</dcterms:created>
  <dcterms:modified xsi:type="dcterms:W3CDTF">2026-07-24T18:48:36Z</dcterms:modified>
  <cp:category/>
</cp:coreProperties>
</file>