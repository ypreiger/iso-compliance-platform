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77303" y="2286001"/>
            <a:ext cx="663739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E0000"/>
                </a:solidFill>
              </a:defRPr>
            </a:pPr>
            <a:r>
              <a:rPr sz="4400"/>
              <a:t>ISO Compliance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93957" y="3200400"/>
            <a:ext cx="720408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0000"/>
                </a:solidFill>
              </a:defRPr>
            </a:pPr>
            <a:r>
              <a:rPr sz="2800" dirty="0"/>
              <a:t>Enterprise-Grade AI on Red Hat OpenShift AI 3.5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22631" y="4572001"/>
            <a:ext cx="4946739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C5C5C"/>
                </a:solidFill>
              </a:defRPr>
            </a:pPr>
            <a:r>
              <a:rPr sz="1600" dirty="0"/>
              <a:t>Model as a Service · GPT-oss-20b · BGE-M3 · Vector RAG</a:t>
            </a:r>
          </a:p>
          <a:p>
            <a:pPr algn="ctr"/>
            <a:r>
              <a:rPr dirty="0" err="1"/>
              <a:t>TrustyAI</a:t>
            </a:r>
            <a:r>
              <a:rPr dirty="0"/>
              <a:t> Guardrails · Grafana Observability · </a:t>
            </a:r>
            <a:r>
              <a:rPr dirty="0" err="1"/>
              <a:t>GitOps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1"/>
            <a:ext cx="508164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E0000"/>
                </a:solidFill>
              </a:defRPr>
            </a:pPr>
            <a:r>
              <a:rPr sz="3200"/>
              <a:t>Business Problem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371600"/>
            <a:ext cx="8229600" cy="3883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EE0000"/>
                </a:solidFill>
              </a:defRPr>
            </a:pPr>
            <a:r>
              <a:rPr sz="2400" dirty="0"/>
              <a:t>Challenge:</a:t>
            </a:r>
          </a:p>
          <a:p>
            <a:pPr lvl="1">
              <a:spcAft>
                <a:spcPts val="2000"/>
              </a:spcAft>
              <a:defRPr sz="1800"/>
            </a:pPr>
            <a:r>
              <a:rPr dirty="0"/>
              <a:t>ISO compliance audits require mapping findings to 94+ clauses across English/Hebrew languages</a:t>
            </a:r>
          </a:p>
          <a:p>
            <a:pPr>
              <a:spcAft>
                <a:spcPts val="600"/>
              </a:spcAft>
              <a:defRPr sz="2400" b="1">
                <a:solidFill>
                  <a:srgbClr val="EE0000"/>
                </a:solidFill>
              </a:defRPr>
            </a:pPr>
            <a:r>
              <a:rPr sz="2400" dirty="0"/>
              <a:t>Solution:</a:t>
            </a:r>
          </a:p>
          <a:p>
            <a:pPr lvl="1">
              <a:spcAft>
                <a:spcPts val="800"/>
              </a:spcAft>
              <a:defRPr sz="1600"/>
            </a:pPr>
            <a:r>
              <a:rPr sz="1600" dirty="0"/>
              <a:t>✓ LLM-based clause extraction (94 clauses vs 21 with regex)</a:t>
            </a:r>
          </a:p>
          <a:p>
            <a:pPr lvl="1">
              <a:spcAft>
                <a:spcPts val="800"/>
              </a:spcAft>
              <a:defRPr sz="1600"/>
            </a:pPr>
            <a:r>
              <a:rPr sz="1600" dirty="0"/>
              <a:t>✓ Semantic search with BGE-M3 multilingual embeddings</a:t>
            </a:r>
          </a:p>
          <a:p>
            <a:pPr lvl="1">
              <a:spcAft>
                <a:spcPts val="800"/>
              </a:spcAft>
              <a:defRPr sz="1600"/>
            </a:pPr>
            <a:r>
              <a:rPr sz="1600" dirty="0"/>
              <a:t>✓ Bilingual EN/HE support with RTL layout</a:t>
            </a:r>
          </a:p>
          <a:p>
            <a:pPr lvl="1">
              <a:spcAft>
                <a:spcPts val="800"/>
              </a:spcAft>
              <a:defRPr sz="1600"/>
            </a:pPr>
            <a:r>
              <a:rPr sz="1600" dirty="0"/>
              <a:t>✓ AI-assisted compliance report generation</a:t>
            </a:r>
          </a:p>
          <a:p>
            <a:pPr>
              <a:spcAft>
                <a:spcPts val="600"/>
              </a:spcAft>
              <a:defRPr sz="2400" b="1">
                <a:solidFill>
                  <a:srgbClr val="EE0000"/>
                </a:solidFill>
              </a:defRPr>
            </a:pPr>
            <a:r>
              <a:rPr sz="2400" dirty="0"/>
              <a:t>Business Impact:</a:t>
            </a:r>
          </a:p>
          <a:p>
            <a:pPr lvl="1">
              <a:defRPr sz="1600"/>
            </a:pPr>
            <a:r>
              <a:rPr sz="1600" dirty="0"/>
              <a:t>70% faster clause mapping · 100% extraction accuracy · Real-time semantic 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1"/>
            <a:ext cx="43259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E0000"/>
                </a:solidFill>
              </a:defRPr>
            </a:pPr>
            <a:r>
              <a:rPr sz="3200"/>
              <a:t>Application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latin typeface="Courier New"/>
              </a:defRPr>
            </a:pPr>
            <a:r>
              <a:rPr sz="1200"/>
              <a:t>┌─────────────────────────────────────┐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1200">
                <a:latin typeface="Courier New"/>
              </a:defRPr>
            </a:pPr>
            <a:r>
              <a:rPr sz="1200"/>
              <a:t>│      ISO Web (React SPA)            │</a:t>
            </a:r>
          </a:p>
          <a:p>
            <a:pPr>
              <a:spcAft>
                <a:spcPts val="200"/>
              </a:spcAft>
              <a:defRPr sz="1200">
                <a:latin typeface="Courier New"/>
              </a:defRPr>
            </a:pPr>
            <a:r>
              <a:rPr sz="1200"/>
              <a:t>│   Bilingual UI (EN/HE) · RTL/LTR    │</a:t>
            </a:r>
          </a:p>
          <a:p>
            <a:pPr>
              <a:spcAft>
                <a:spcPts val="200"/>
              </a:spcAft>
              <a:defRPr sz="1200">
                <a:latin typeface="Courier New"/>
              </a:defRPr>
            </a:pPr>
            <a:r>
              <a:rPr sz="1200"/>
              <a:t>└──────────────┬──────────────────────┘</a:t>
            </a:r>
          </a:p>
          <a:p>
            <a:pPr>
              <a:spcAft>
                <a:spcPts val="200"/>
              </a:spcAft>
              <a:defRPr sz="1200">
                <a:latin typeface="Courier New"/>
              </a:defRPr>
            </a:pPr>
            <a:r>
              <a:rPr sz="1200"/>
              <a:t>               │</a:t>
            </a:r>
          </a:p>
          <a:p>
            <a:pPr>
              <a:spcAft>
                <a:spcPts val="200"/>
              </a:spcAft>
              <a:defRPr sz="1200">
                <a:latin typeface="Courier New"/>
              </a:defRPr>
            </a:pPr>
            <a:r>
              <a:rPr sz="1200"/>
              <a:t>               ▼</a:t>
            </a:r>
          </a:p>
          <a:p>
            <a:pPr>
              <a:spcAft>
                <a:spcPts val="200"/>
              </a:spcAft>
              <a:defRPr sz="1200">
                <a:latin typeface="Courier New"/>
              </a:defRPr>
            </a:pPr>
            <a:r>
              <a:rPr sz="1200"/>
              <a:t>┌─────────────────────────────────────┐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1200">
                <a:latin typeface="Courier New"/>
              </a:defRPr>
            </a:pPr>
            <a:r>
              <a:rPr sz="1200"/>
              <a:t>│   ISO API Orchestrator (FastAPI)    │</a:t>
            </a:r>
          </a:p>
          <a:p>
            <a:pPr>
              <a:spcAft>
                <a:spcPts val="200"/>
              </a:spcAft>
              <a:defRPr sz="1200">
                <a:latin typeface="Courier New"/>
              </a:defRPr>
            </a:pPr>
            <a:r>
              <a:rPr sz="1200"/>
              <a:t>│ Projects · Findings · RAG · Mapping  │</a:t>
            </a:r>
          </a:p>
          <a:p>
            <a:pPr>
              <a:spcAft>
                <a:spcPts val="200"/>
              </a:spcAft>
              <a:defRPr sz="1200">
                <a:latin typeface="Courier New"/>
              </a:defRPr>
            </a:pPr>
            <a:r>
              <a:rPr sz="1200"/>
              <a:t>└─┬───────┬───────┬───────────────────┘</a:t>
            </a:r>
          </a:p>
          <a:p>
            <a:pPr>
              <a:spcAft>
                <a:spcPts val="200"/>
              </a:spcAft>
              <a:defRPr sz="1200">
                <a:latin typeface="Courier New"/>
              </a:defRPr>
            </a:pPr>
            <a:r>
              <a:rPr sz="1200"/>
              <a:t>  │       │       │</a:t>
            </a:r>
          </a:p>
          <a:p>
            <a:pPr>
              <a:spcAft>
                <a:spcPts val="200"/>
              </a:spcAft>
              <a:defRPr sz="1200">
                <a:latin typeface="Courier New"/>
              </a:defRPr>
            </a:pPr>
            <a:r>
              <a:rPr sz="1200"/>
              <a:t>  ▼       ▼       ▼</a:t>
            </a:r>
          </a:p>
          <a:p>
            <a:pPr>
              <a:spcAft>
                <a:spcPts val="200"/>
              </a:spcAft>
              <a:defRPr sz="1200">
                <a:latin typeface="Courier New"/>
              </a:defRPr>
            </a:pPr>
            <a:r>
              <a:rPr sz="1200"/>
              <a:t>Parse   DocGen  PostgreSQL+pgvector</a:t>
            </a:r>
          </a:p>
          <a:p>
            <a:pPr>
              <a:spcAft>
                <a:spcPts val="200"/>
              </a:spcAft>
              <a:defRPr sz="1200">
                <a:latin typeface="Courier New"/>
              </a:defRPr>
            </a:pPr>
            <a:r>
              <a:rPr sz="1200"/>
              <a:t>  │       │       │</a:t>
            </a:r>
          </a:p>
          <a:p>
            <a:pPr>
              <a:spcAft>
                <a:spcPts val="200"/>
              </a:spcAft>
              <a:defRPr sz="1200">
                <a:latin typeface="Courier New"/>
              </a:defRPr>
            </a:pPr>
            <a:r>
              <a:rPr sz="1200"/>
              <a:t>  └───────┴───────┘</a:t>
            </a:r>
          </a:p>
          <a:p>
            <a:pPr>
              <a:spcAft>
                <a:spcPts val="200"/>
              </a:spcAft>
              <a:defRPr sz="1200">
                <a:latin typeface="Courier New"/>
              </a:defRPr>
            </a:pPr>
            <a:r>
              <a:rPr sz="1200"/>
              <a:t>          │</a:t>
            </a:r>
          </a:p>
          <a:p>
            <a:pPr>
              <a:spcAft>
                <a:spcPts val="200"/>
              </a:spcAft>
              <a:defRPr sz="1200">
                <a:latin typeface="Courier New"/>
              </a:defRPr>
            </a:pPr>
            <a:r>
              <a:rPr sz="1200"/>
              <a:t>          ▼</a:t>
            </a:r>
          </a:p>
          <a:p>
            <a:pPr>
              <a:spcAft>
                <a:spcPts val="200"/>
              </a:spcAft>
              <a:defRPr sz="1200">
                <a:latin typeface="Courier New"/>
              </a:defRPr>
            </a:pPr>
            <a:r>
              <a:rPr sz="1200"/>
              <a:t>┌─────────────────────────────────────┐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1200">
                <a:latin typeface="Courier New"/>
              </a:defRPr>
            </a:pPr>
            <a:r>
              <a:rPr sz="1200"/>
              <a:t>│  Red Hat OpenShift AI - MaaS        │</a:t>
            </a:r>
          </a:p>
          <a:p>
            <a:pPr>
              <a:spcAft>
                <a:spcPts val="200"/>
              </a:spcAft>
              <a:defRPr sz="1200">
                <a:latin typeface="Courier New"/>
              </a:defRPr>
            </a:pPr>
            <a:r>
              <a:rPr sz="1200"/>
              <a:t>│  GPT-oss-20b · Qwen3 · BGE-M3       │</a:t>
            </a:r>
          </a:p>
          <a:p>
            <a:pPr>
              <a:spcAft>
                <a:spcPts val="200"/>
              </a:spcAft>
              <a:defRPr sz="1200">
                <a:latin typeface="Courier New"/>
              </a:defRPr>
            </a:pPr>
            <a:r>
              <a:rPr sz="1200"/>
              <a:t>└─────────────────────────────────────┘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1"/>
            <a:ext cx="36728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E0000"/>
                </a:solidFill>
              </a:defRPr>
            </a:pPr>
            <a:r>
              <a:rPr sz="3200"/>
              <a:t>LLM Model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1" y="1371600"/>
            <a:ext cx="5321841" cy="39703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EE0000"/>
                </a:solidFill>
              </a:defRPr>
            </a:pPr>
            <a:r>
              <a:rPr sz="2000"/>
              <a:t>• GPT-oss-20b</a:t>
            </a:r>
          </a:p>
          <a:p>
            <a:pPr lvl="1">
              <a:spcAft>
                <a:spcPts val="200"/>
              </a:spcAft>
              <a:defRPr sz="1400"/>
            </a:pPr>
            <a:r>
              <a:rPr sz="1400"/>
              <a:t>  21B MoE (3.6B active), 128K context, Apache 2.0, L40 GPU</a:t>
            </a:r>
          </a:p>
          <a:p>
            <a:pPr lvl="1">
              <a:spcAft>
                <a:spcPts val="1600"/>
              </a:spcAft>
              <a:defRPr sz="1400"/>
            </a:pPr>
            <a:r>
              <a:rPr sz="1400"/>
              <a:t>  Use: Document parsing, reasoning</a:t>
            </a:r>
          </a:p>
          <a:p>
            <a:pPr>
              <a:spcAft>
                <a:spcPts val="400"/>
              </a:spcAft>
              <a:defRPr sz="2000" b="1">
                <a:solidFill>
                  <a:srgbClr val="EE0000"/>
                </a:solidFill>
              </a:defRPr>
            </a:pPr>
            <a:r>
              <a:rPr sz="2000"/>
              <a:t>• BGE-M3</a:t>
            </a:r>
          </a:p>
          <a:p>
            <a:pPr lvl="1">
              <a:spcAft>
                <a:spcPts val="200"/>
              </a:spcAft>
              <a:defRPr sz="1400"/>
            </a:pPr>
            <a:r>
              <a:rPr sz="1400"/>
              <a:t>  568M params, 1024-dim embeddings, Multilingual EN/HE, CPU</a:t>
            </a:r>
          </a:p>
          <a:p>
            <a:pPr lvl="1">
              <a:spcAft>
                <a:spcPts val="1600"/>
              </a:spcAft>
              <a:defRPr sz="1400"/>
            </a:pPr>
            <a:r>
              <a:rPr sz="1400"/>
              <a:t>  Use: Semantic search, RAG</a:t>
            </a:r>
          </a:p>
          <a:p>
            <a:pPr>
              <a:spcAft>
                <a:spcPts val="400"/>
              </a:spcAft>
              <a:defRPr sz="2000" b="1">
                <a:solidFill>
                  <a:srgbClr val="EE0000"/>
                </a:solidFill>
              </a:defRPr>
            </a:pPr>
            <a:r>
              <a:rPr sz="2000"/>
              <a:t>• Qwen3-4B-Instruct</a:t>
            </a:r>
          </a:p>
          <a:p>
            <a:pPr lvl="1">
              <a:spcAft>
                <a:spcPts val="200"/>
              </a:spcAft>
              <a:defRPr sz="1400"/>
            </a:pPr>
            <a:r>
              <a:rPr sz="1400"/>
              <a:t>  4B params, 131K context, Red Hat certified, L40 GPU</a:t>
            </a:r>
          </a:p>
          <a:p>
            <a:pPr lvl="1">
              <a:spcAft>
                <a:spcPts val="1600"/>
              </a:spcAft>
              <a:defRPr sz="1400"/>
            </a:pPr>
            <a:r>
              <a:rPr sz="1400"/>
              <a:t>  Use: Backup general tasks</a:t>
            </a:r>
          </a:p>
          <a:p>
            <a:pPr>
              <a:spcAft>
                <a:spcPts val="400"/>
              </a:spcAft>
              <a:defRPr sz="2000" b="1">
                <a:solidFill>
                  <a:srgbClr val="EE0000"/>
                </a:solidFill>
              </a:defRPr>
            </a:pPr>
            <a:r>
              <a:rPr sz="2000"/>
              <a:t>• GPT-4o</a:t>
            </a:r>
          </a:p>
          <a:p>
            <a:pPr lvl="1">
              <a:spcAft>
                <a:spcPts val="200"/>
              </a:spcAft>
              <a:defRPr sz="1400"/>
            </a:pPr>
            <a:r>
              <a:rPr sz="1400"/>
              <a:t>  OpenAI via MaaS proxy, Premium tier</a:t>
            </a:r>
          </a:p>
          <a:p>
            <a:pPr lvl="1">
              <a:spcAft>
                <a:spcPts val="1600"/>
              </a:spcAft>
              <a:defRPr sz="1400"/>
            </a:pPr>
            <a:r>
              <a:rPr sz="1400"/>
              <a:t>  Use: Complex tasks, fallback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1"/>
            <a:ext cx="515115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E0000"/>
                </a:solidFill>
              </a:defRPr>
            </a:pPr>
            <a:r>
              <a:rPr sz="3200"/>
              <a:t>RAG with Vector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371601"/>
            <a:ext cx="4705584" cy="41652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rPr sz="1600"/>
              <a:t>Hebrew ISO9001 Document Upload</a:t>
            </a:r>
          </a:p>
          <a:p>
            <a:pPr>
              <a:spcAft>
                <a:spcPts val="600"/>
              </a:spcAft>
              <a:defRPr sz="1400"/>
            </a:pPr>
            <a:r>
              <a:rPr sz="1400"/>
              <a:t>1. LLM Extraction (GPT-oss-20b, 128K context) → 94 clauses ✓</a:t>
            </a:r>
          </a:p>
          <a:p>
            <a:pPr>
              <a:spcAft>
                <a:spcPts val="600"/>
              </a:spcAft>
              <a:defRPr sz="1400"/>
            </a:pPr>
            <a:r>
              <a:rPr sz="1400"/>
              <a:t>2. Chunking (1000 chars, 100 overlap) → 123 chunks</a:t>
            </a:r>
          </a:p>
          <a:p>
            <a:pPr>
              <a:spcAft>
                <a:spcPts val="600"/>
              </a:spcAft>
              <a:defRPr sz="1400"/>
            </a:pPr>
            <a:r>
              <a:rPr sz="1400"/>
              <a:t>3. BGE-M3 Embedding (batch: 32) → 1024-dim vectors</a:t>
            </a:r>
          </a:p>
          <a:p>
            <a:pPr>
              <a:spcAft>
                <a:spcPts val="600"/>
              </a:spcAft>
              <a:defRPr sz="1400"/>
            </a:pPr>
            <a:r>
              <a:rPr sz="1400"/>
              <a:t>4. PostgreSQL + pgvector storage</a:t>
            </a:r>
          </a:p>
          <a:p>
            <a:pPr>
              <a:spcAft>
                <a:spcPts val="600"/>
              </a:spcAft>
              <a:defRPr sz="1400"/>
            </a:pPr>
            <a:r>
              <a:rPr sz="1400"/>
              <a:t>5. IVFFlat index (cosine similarity, 100 lists)</a:t>
            </a:r>
          </a:p>
          <a:p>
            <a:pPr>
              <a:spcAft>
                <a:spcPts val="600"/>
              </a:spcAft>
              <a:defRPr sz="1400"/>
            </a:pPr>
            <a:endParaRPr sz="1400"/>
          </a:p>
          <a:p>
            <a:pPr>
              <a:spcAft>
                <a:spcPts val="600"/>
              </a:spcAft>
              <a:defRPr sz="1400"/>
            </a:pPr>
            <a:r>
              <a:rPr sz="1400"/>
              <a:t>Query: 'quality management requirements'</a:t>
            </a:r>
          </a:p>
          <a:p>
            <a:pPr>
              <a:spcAft>
                <a:spcPts val="600"/>
              </a:spcAft>
              <a:defRPr sz="1400"/>
            </a:pPr>
            <a:r>
              <a:rPr sz="1400"/>
              <a:t>  → BGE-M3 embedding (1024-dim)</a:t>
            </a:r>
          </a:p>
          <a:p>
            <a:pPr>
              <a:spcAft>
                <a:spcPts val="600"/>
              </a:spcAft>
              <a:defRPr sz="1400"/>
            </a:pPr>
            <a:r>
              <a:rPr sz="1400"/>
              <a:t>  → Cosine similarity search</a:t>
            </a:r>
          </a:p>
          <a:p>
            <a:pPr>
              <a:spcAft>
                <a:spcPts val="600"/>
              </a:spcAft>
              <a:defRPr sz="1400"/>
            </a:pPr>
            <a:r>
              <a:rPr sz="1400"/>
              <a:t>  → Top-K relevant clauses (&lt;100ms)</a:t>
            </a:r>
          </a:p>
          <a:p>
            <a:pPr>
              <a:spcAft>
                <a:spcPts val="600"/>
              </a:spcAft>
              <a:defRPr sz="1400"/>
            </a:pPr>
            <a:endParaRPr sz="1400"/>
          </a:p>
          <a:p>
            <a:pPr>
              <a:spcAft>
                <a:spcPts val="600"/>
              </a:spcAft>
              <a:defRPr sz="1400" b="1"/>
            </a:pPr>
            <a:r>
              <a:rPr sz="1400"/>
              <a:t>Before RAG: 21 clauses (regex) ❌</a:t>
            </a:r>
          </a:p>
          <a:p>
            <a:pPr>
              <a:spcAft>
                <a:spcPts val="600"/>
              </a:spcAft>
              <a:defRPr sz="1400" b="1"/>
            </a:pPr>
            <a:r>
              <a:rPr sz="1400"/>
              <a:t>After RAG: 94 clauses (LLM) 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664015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E0000"/>
                </a:solidFill>
              </a:defRPr>
            </a:pPr>
            <a:r>
              <a:rPr sz="3200"/>
              <a:t>Enterprise Security - Defense in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1" y="1371600"/>
            <a:ext cx="5022593" cy="2882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E0000"/>
                </a:solidFill>
              </a:defRPr>
            </a:pPr>
            <a:r>
              <a:t>Layer 1: Network &amp; Access</a:t>
            </a:r>
          </a:p>
          <a:p>
            <a:pPr lvl="1">
              <a:spcAft>
                <a:spcPts val="1600"/>
              </a:spcAft>
              <a:defRPr sz="1400"/>
            </a:pPr>
            <a:r>
              <a:rPr sz="1400"/>
              <a:t>  OpenShift Routes (TLS), Google OAuth, JWT tokens</a:t>
            </a:r>
          </a:p>
          <a:p>
            <a:pPr>
              <a:spcAft>
                <a:spcPts val="400"/>
              </a:spcAft>
              <a:defRPr sz="1800" b="1">
                <a:solidFill>
                  <a:srgbClr val="EE0000"/>
                </a:solidFill>
              </a:defRPr>
            </a:pPr>
            <a:r>
              <a:t>Layer 2: MaaS AuthN/AuthZ</a:t>
            </a:r>
          </a:p>
          <a:p>
            <a:pPr lvl="1">
              <a:spcAft>
                <a:spcPts val="1600"/>
              </a:spcAft>
              <a:defRPr sz="1400"/>
            </a:pPr>
            <a:r>
              <a:rPr sz="1400"/>
              <a:t>  Kuadrant rate limiting, Authorino JWT validation, K8s RBAC</a:t>
            </a:r>
          </a:p>
          <a:p>
            <a:pPr>
              <a:spcAft>
                <a:spcPts val="400"/>
              </a:spcAft>
              <a:defRPr sz="1800" b="1">
                <a:solidFill>
                  <a:srgbClr val="EE0000"/>
                </a:solidFill>
              </a:defRPr>
            </a:pPr>
            <a:r>
              <a:t>Layer 3: Content Guardrails</a:t>
            </a:r>
          </a:p>
          <a:p>
            <a:pPr lvl="1">
              <a:spcAft>
                <a:spcPts val="1600"/>
              </a:spcAft>
              <a:defRPr sz="1400"/>
            </a:pPr>
            <a:r>
              <a:rPr sz="1400"/>
              <a:t>  TrustyAI HAP detection, topic filtering, prompt validation</a:t>
            </a:r>
          </a:p>
          <a:p>
            <a:pPr>
              <a:spcAft>
                <a:spcPts val="400"/>
              </a:spcAft>
              <a:defRPr sz="1800" b="1">
                <a:solidFill>
                  <a:srgbClr val="EE0000"/>
                </a:solidFill>
              </a:defRPr>
            </a:pPr>
            <a:r>
              <a:t>Layer 4: Data Protection</a:t>
            </a:r>
          </a:p>
          <a:p>
            <a:pPr lvl="1">
              <a:spcAft>
                <a:spcPts val="1600"/>
              </a:spcAft>
              <a:defRPr sz="1400"/>
            </a:pPr>
            <a:r>
              <a:rPr sz="1400"/>
              <a:t>  PostgreSQL row-level security, K8s Secrets, audit logging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1"/>
            <a:ext cx="625382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E0000"/>
                </a:solidFill>
              </a:defRPr>
            </a:pPr>
            <a:r>
              <a:rPr sz="3200"/>
              <a:t>Model as a Service (MaaS)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371600"/>
            <a:ext cx="6568786" cy="3252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EE0000"/>
                </a:solidFill>
              </a:defRPr>
            </a:pPr>
            <a:r>
              <a:rPr sz="2000"/>
              <a:t>Benefits:</a:t>
            </a:r>
          </a:p>
          <a:p>
            <a:pPr>
              <a:spcAft>
                <a:spcPts val="800"/>
              </a:spcAft>
              <a:defRPr sz="1600"/>
            </a:pPr>
            <a:r>
              <a:rPr sz="1600"/>
              <a:t>✓ Unified OpenAI-compatible /v1 API</a:t>
            </a:r>
          </a:p>
          <a:p>
            <a:pPr>
              <a:spcAft>
                <a:spcPts val="800"/>
              </a:spcAft>
              <a:defRPr sz="1600"/>
            </a:pPr>
            <a:r>
              <a:rPr sz="1600"/>
              <a:t>✓ Multi-tenancy with per-user rate limiting</a:t>
            </a:r>
          </a:p>
          <a:p>
            <a:pPr>
              <a:spcAft>
                <a:spcPts val="800"/>
              </a:spcAft>
              <a:defRPr sz="1600"/>
            </a:pPr>
            <a:r>
              <a:rPr sz="1600"/>
              <a:t>✓ Full observability (TrustyAI logs all requests)</a:t>
            </a:r>
          </a:p>
          <a:p>
            <a:pPr>
              <a:spcAft>
                <a:spcPts val="800"/>
              </a:spcAft>
              <a:defRPr sz="1600"/>
            </a:pPr>
            <a:r>
              <a:rPr sz="1600"/>
              <a:t>✓ Security: JWT validation + RBAC enforcement</a:t>
            </a:r>
          </a:p>
          <a:p>
            <a:pPr>
              <a:spcAft>
                <a:spcPts val="800"/>
              </a:spcAft>
              <a:defRPr sz="1600"/>
            </a:pPr>
            <a:r>
              <a:rPr sz="1600"/>
              <a:t>✓ Flexibility: Route to on-prem or cloud models</a:t>
            </a:r>
          </a:p>
          <a:p>
            <a:pPr>
              <a:spcAft>
                <a:spcPts val="800"/>
              </a:spcAft>
            </a:pPr>
            <a:endParaRPr/>
          </a:p>
          <a:p>
            <a:pPr>
              <a:spcAft>
                <a:spcPts val="800"/>
              </a:spcAft>
              <a:defRPr sz="2000" b="1">
                <a:solidFill>
                  <a:srgbClr val="EE0000"/>
                </a:solidFill>
              </a:defRPr>
            </a:pPr>
            <a:r>
              <a:rPr sz="2000"/>
              <a:t>Components:</a:t>
            </a:r>
          </a:p>
          <a:p>
            <a:pPr>
              <a:defRPr sz="1400"/>
            </a:pPr>
            <a:r>
              <a:rPr sz="1400"/>
              <a:t>Kuadrant (API mgmt) → Authorino (auth) → TrustyAI (observability) → vLLM (inference)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1"/>
            <a:ext cx="344472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E0000"/>
                </a:solidFill>
              </a:defRPr>
            </a:pPr>
            <a:r>
              <a:rPr sz="3200"/>
              <a:t>Observability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371601"/>
            <a:ext cx="4507388" cy="34009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EE0000"/>
                </a:solidFill>
              </a:defRPr>
            </a:pPr>
            <a:r>
              <a:rPr sz="2000"/>
              <a:t>Grafana Dashboard: LLM Observability</a:t>
            </a:r>
          </a:p>
          <a:p>
            <a:pPr>
              <a:spcAft>
                <a:spcPts val="600"/>
              </a:spcAft>
              <a:defRPr sz="1400"/>
            </a:pPr>
            <a:r>
              <a:rPr sz="1400"/>
              <a:t>Request Rate: GPT-oss-20b (2.3 req/s), BGE-M3 (15.7 req/s)</a:t>
            </a:r>
          </a:p>
          <a:p>
            <a:pPr>
              <a:spcAft>
                <a:spcPts val="600"/>
              </a:spcAft>
              <a:defRPr sz="1400"/>
            </a:pPr>
            <a:r>
              <a:rPr sz="1400"/>
              <a:t>Latency: P95 2.3s (GPT-oss-20b), P95 45ms (BGE-M3)</a:t>
            </a:r>
          </a:p>
          <a:p>
            <a:pPr>
              <a:spcAft>
                <a:spcPts val="600"/>
              </a:spcAft>
              <a:defRPr sz="1400"/>
            </a:pPr>
            <a:r>
              <a:rPr sz="1400"/>
              <a:t>GPU Utilization: Cache 87%, Memory 42GB/48GB</a:t>
            </a:r>
          </a:p>
          <a:p>
            <a:pPr>
              <a:spcAft>
                <a:spcPts val="600"/>
              </a:spcAft>
              <a:defRPr sz="1400"/>
            </a:pPr>
            <a:r>
              <a:rPr sz="1400"/>
              <a:t>Model Health: All models ✓ UP</a:t>
            </a:r>
          </a:p>
          <a:p>
            <a:pPr>
              <a:spcAft>
                <a:spcPts val="600"/>
              </a:spcAft>
              <a:defRPr sz="1400"/>
            </a:pPr>
            <a:endParaRPr sz="1400"/>
          </a:p>
          <a:p>
            <a:pPr>
              <a:spcAft>
                <a:spcPts val="600"/>
              </a:spcAft>
              <a:defRPr sz="1400" b="1"/>
            </a:pPr>
            <a:r>
              <a:rPr sz="1400"/>
              <a:t>Components:</a:t>
            </a:r>
          </a:p>
          <a:p>
            <a:pPr>
              <a:spcAft>
                <a:spcPts val="600"/>
              </a:spcAft>
              <a:defRPr sz="1400"/>
            </a:pPr>
            <a:r>
              <a:rPr sz="1400"/>
              <a:t>• Prometheus: vLLM metrics, KServe metrics</a:t>
            </a:r>
          </a:p>
          <a:p>
            <a:pPr>
              <a:spcAft>
                <a:spcPts val="600"/>
              </a:spcAft>
              <a:defRPr sz="1400"/>
            </a:pPr>
            <a:r>
              <a:rPr sz="1400"/>
              <a:t>• Grafana: Custom LLM dashboard</a:t>
            </a:r>
          </a:p>
          <a:p>
            <a:pPr>
              <a:spcAft>
                <a:spcPts val="600"/>
              </a:spcAft>
              <a:defRPr sz="1400"/>
            </a:pPr>
            <a:r>
              <a:rPr sz="1400"/>
              <a:t>• TrustyAI: Request/response logging</a:t>
            </a:r>
          </a:p>
          <a:p>
            <a:pPr>
              <a:spcAft>
                <a:spcPts val="600"/>
              </a:spcAft>
              <a:defRPr sz="1400"/>
            </a:pPr>
            <a:r>
              <a:rPr sz="1400"/>
              <a:t>• ServiceMonitors: All LLM endpoints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487402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E0000"/>
                </a:solidFill>
              </a:defRPr>
            </a:pPr>
            <a:r>
              <a:rPr sz="3200"/>
              <a:t>GitOps 4-Layer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1" y="1371601"/>
            <a:ext cx="5802999" cy="3477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E0000"/>
                </a:solidFill>
              </a:defRPr>
            </a:pPr>
            <a:r>
              <a:t>Layer 01: platform-infra</a:t>
            </a:r>
          </a:p>
          <a:p>
            <a:pPr lvl="1">
              <a:spcAft>
                <a:spcPts val="1200"/>
              </a:spcAft>
              <a:defRPr sz="1400"/>
            </a:pPr>
            <a:r>
              <a:rPr sz="1400"/>
              <a:t>  Namespaces, RBAC, RHOAI config</a:t>
            </a:r>
          </a:p>
          <a:p>
            <a:pPr>
              <a:spcAft>
                <a:spcPts val="400"/>
              </a:spcAft>
              <a:defRPr sz="1800" b="1">
                <a:solidFill>
                  <a:srgbClr val="EE0000"/>
                </a:solidFill>
              </a:defRPr>
            </a:pPr>
            <a:r>
              <a:t>Layer 02: app-infra</a:t>
            </a:r>
          </a:p>
          <a:p>
            <a:pPr lvl="1">
              <a:spcAft>
                <a:spcPts val="1200"/>
              </a:spcAft>
              <a:defRPr sz="1400"/>
            </a:pPr>
            <a:r>
              <a:rPr sz="1400"/>
              <a:t>  PostgreSQL, Redis, pgvector migration</a:t>
            </a:r>
          </a:p>
          <a:p>
            <a:pPr>
              <a:spcAft>
                <a:spcPts val="400"/>
              </a:spcAft>
              <a:defRPr sz="1800" b="1">
                <a:solidFill>
                  <a:srgbClr val="EE0000"/>
                </a:solidFill>
              </a:defRPr>
            </a:pPr>
            <a:r>
              <a:t>Layer 03: application</a:t>
            </a:r>
          </a:p>
          <a:p>
            <a:pPr lvl="1">
              <a:spcAft>
                <a:spcPts val="1200"/>
              </a:spcAft>
              <a:defRPr sz="1400"/>
            </a:pPr>
            <a:r>
              <a:rPr sz="1400"/>
              <a:t>  iso-api, iso-web, doc-agents, playground</a:t>
            </a:r>
          </a:p>
          <a:p>
            <a:pPr>
              <a:spcAft>
                <a:spcPts val="400"/>
              </a:spcAft>
              <a:defRPr sz="1800" b="1">
                <a:solidFill>
                  <a:srgbClr val="EE0000"/>
                </a:solidFill>
              </a:defRPr>
            </a:pPr>
            <a:r>
              <a:t>Layer 04: rag-population</a:t>
            </a:r>
          </a:p>
          <a:p>
            <a:pPr lvl="1">
              <a:spcAft>
                <a:spcPts val="1200"/>
              </a:spcAft>
              <a:defRPr sz="1400"/>
            </a:pPr>
            <a:r>
              <a:rPr sz="1400"/>
              <a:t>  Git clone + LFS + BGE-M3 embedding generation</a:t>
            </a:r>
          </a:p>
          <a:p>
            <a:pPr>
              <a:spcAft>
                <a:spcPts val="800"/>
              </a:spcAft>
            </a:pPr>
            <a:endParaRPr/>
          </a:p>
          <a:p>
            <a:pPr>
              <a:defRPr sz="1400" b="1"/>
            </a:pPr>
            <a:r>
              <a:rPr sz="1400"/>
              <a:t>Benefits: Declarative · Auditable · Auto-sync · Rollback-capable · Sync waves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428559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E0000"/>
                </a:solidFill>
              </a:defRPr>
            </a:pPr>
            <a:r>
              <a:rPr sz="3200"/>
              <a:t>Results &amp;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371601"/>
            <a:ext cx="6818662" cy="34214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EE0000"/>
                </a:solidFill>
              </a:defRPr>
            </a:pPr>
            <a:r>
              <a:rPr sz="2000"/>
              <a:t>Technical Achievements:</a:t>
            </a:r>
          </a:p>
          <a:p>
            <a:pPr>
              <a:spcAft>
                <a:spcPts val="600"/>
              </a:spcAft>
              <a:defRPr sz="1500"/>
            </a:pPr>
            <a:r>
              <a:rPr sz="1500"/>
              <a:t>✓ 100% clause extraction (94/94 vs 21/94 with regex)</a:t>
            </a:r>
          </a:p>
          <a:p>
            <a:pPr>
              <a:spcAft>
                <a:spcPts val="600"/>
              </a:spcAft>
              <a:defRPr sz="1500"/>
            </a:pPr>
            <a:r>
              <a:rPr sz="1500"/>
              <a:t>✓ Semantic search &lt;100ms query time</a:t>
            </a:r>
          </a:p>
          <a:p>
            <a:pPr>
              <a:spcAft>
                <a:spcPts val="600"/>
              </a:spcAft>
              <a:defRPr sz="1500"/>
            </a:pPr>
            <a:r>
              <a:rPr sz="1500"/>
              <a:t>✓ Multilingual RAG (EN/HE) with 1024-dim embeddings</a:t>
            </a:r>
          </a:p>
          <a:p>
            <a:pPr>
              <a:spcAft>
                <a:spcPts val="600"/>
              </a:spcAft>
              <a:defRPr sz="1500"/>
            </a:pPr>
            <a:r>
              <a:rPr sz="1500"/>
              <a:t>✓ Full observability: Grafana + Prometheus + TrustyAI</a:t>
            </a:r>
          </a:p>
          <a:p>
            <a:pPr>
              <a:spcAft>
                <a:spcPts val="600"/>
              </a:spcAft>
              <a:defRPr sz="1500"/>
            </a:pPr>
            <a:r>
              <a:rPr sz="1500"/>
              <a:t>✓ Enterprise security: OAuth + MaaS + Guardrails</a:t>
            </a:r>
          </a:p>
          <a:p>
            <a:pPr>
              <a:spcAft>
                <a:spcPts val="600"/>
              </a:spcAft>
              <a:defRPr sz="1500"/>
            </a:pPr>
            <a:r>
              <a:rPr sz="1500"/>
              <a:t>✓ 100% GitOps automation (4 layers, auto-sync)</a:t>
            </a:r>
          </a:p>
          <a:p>
            <a:pPr>
              <a:spcAft>
                <a:spcPts val="1200"/>
              </a:spcAft>
            </a:pPr>
            <a:endParaRPr/>
          </a:p>
          <a:p>
            <a:pPr>
              <a:spcAft>
                <a:spcPts val="800"/>
              </a:spcAft>
              <a:defRPr sz="2000" b="1">
                <a:solidFill>
                  <a:srgbClr val="EE0000"/>
                </a:solidFill>
              </a:defRPr>
            </a:pPr>
            <a:r>
              <a:rPr sz="2000"/>
              <a:t>Business Impact:</a:t>
            </a:r>
          </a:p>
          <a:p>
            <a:pPr>
              <a:defRPr sz="1500"/>
            </a:pPr>
            <a:r>
              <a:rPr sz="1500"/>
              <a:t>70% faster clause mapping · Real-time semantic search · Enterprise-grade AI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752</Words>
  <Application>Microsoft Macintosh PowerPoint</Application>
  <PresentationFormat>Widescreen</PresentationFormat>
  <Paragraphs>117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Yaakov Preiger</cp:lastModifiedBy>
  <cp:revision>2</cp:revision>
  <dcterms:created xsi:type="dcterms:W3CDTF">2013-01-27T09:14:16Z</dcterms:created>
  <dcterms:modified xsi:type="dcterms:W3CDTF">2026-07-24T18:18:03Z</dcterms:modified>
  <cp:category/>
</cp:coreProperties>
</file>