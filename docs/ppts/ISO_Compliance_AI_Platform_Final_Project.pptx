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EE0000"/>
                </a:solidFill>
              </a:defRPr>
            </a:pPr>
            <a:r>
              <a:t>ISO Compliance AI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000000"/>
                </a:solidFill>
              </a:defRPr>
            </a:pPr>
            <a:r>
              <a:t>Enterprise-Grade AI on Red Hat OpenShift AI 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C5C5C"/>
                </a:solidFill>
              </a:defRPr>
            </a:pPr>
            <a:r>
              <a:t>Model as a Service · GPT-oss-20b · BGE-M3 · Vector RAG</a:t>
            </a:r>
          </a:p>
          <a:p>
            <a:r>
              <a:t>TrustyAI Guardrails · Grafana Observability · GitOps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Business Problem &amp;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EE0000"/>
                </a:solidFill>
              </a:defRPr>
            </a:pPr>
            <a:r>
              <a:t>Challenge:</a:t>
            </a:r>
          </a:p>
          <a:p>
            <a:pPr lvl="1">
              <a:spcAft>
                <a:spcPts val="2000"/>
              </a:spcAft>
              <a:defRPr sz="1800"/>
            </a:pPr>
            <a:r>
              <a:t>ISO compliance audits require mapping findings to 94+ clauses across English/Hebrew languages</a:t>
            </a:r>
          </a:p>
          <a:p>
            <a:pPr>
              <a:spcAft>
                <a:spcPts val="600"/>
              </a:spcAft>
              <a:defRPr sz="2400" b="1">
                <a:solidFill>
                  <a:srgbClr val="EE0000"/>
                </a:solidFill>
              </a:defRPr>
            </a:pPr>
            <a:r>
              <a:t>Solution:</a:t>
            </a:r>
          </a:p>
          <a:p>
            <a:pPr lvl="1">
              <a:spcAft>
                <a:spcPts val="800"/>
              </a:spcAft>
              <a:defRPr sz="1600"/>
            </a:pPr>
            <a:r>
              <a:t>✓ LLM-based clause extraction (94 clauses vs 21 with regex)</a:t>
            </a:r>
          </a:p>
          <a:p>
            <a:pPr lvl="1">
              <a:spcAft>
                <a:spcPts val="800"/>
              </a:spcAft>
              <a:defRPr sz="1600"/>
            </a:pPr>
            <a:r>
              <a:t>✓ Semantic search with BGE-M3 multilingual embeddings</a:t>
            </a:r>
          </a:p>
          <a:p>
            <a:pPr lvl="1">
              <a:spcAft>
                <a:spcPts val="800"/>
              </a:spcAft>
              <a:defRPr sz="1600"/>
            </a:pPr>
            <a:r>
              <a:t>✓ Bilingual EN/HE support with RTL layout</a:t>
            </a:r>
          </a:p>
          <a:p>
            <a:pPr lvl="1">
              <a:spcAft>
                <a:spcPts val="800"/>
              </a:spcAft>
              <a:defRPr sz="1600"/>
            </a:pPr>
            <a:r>
              <a:t>✓ AI-assisted compliance report generation</a:t>
            </a:r>
          </a:p>
          <a:p>
            <a:pPr>
              <a:spcAft>
                <a:spcPts val="600"/>
              </a:spcAft>
              <a:defRPr sz="2400" b="1">
                <a:solidFill>
                  <a:srgbClr val="EE0000"/>
                </a:solidFill>
              </a:defRPr>
            </a:pPr>
            <a:r>
              <a:t>Business Impact:</a:t>
            </a:r>
          </a:p>
          <a:p>
            <a:pPr lvl="1">
              <a:defRPr sz="1600"/>
            </a:pPr>
            <a:r>
              <a:t>70% faster clause mapping · 100% extraction accuracy · Real-time semantic 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┌─────────────────────────────────────┐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│      ISO Web (React SPA)     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│   Bilingual UI (EN/HE) · RTL/LTR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└──────────────┬──────────────────────┘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      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             ▼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┌─────────────────────────────────────┐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│   ISO API Orchestrator (FastAPI)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│ Projects · Findings · RAG · Mapping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└─┬───────┬───────┬───────────────────┘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│       │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▼       ▼       ▼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Parse   DocGen  PostgreSQL+pgvector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│       │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└───────┴───────┘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 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          ▼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┌─────────────────────────────────────┐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│  Red Hat OpenShift AI - MaaS 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│  GPT-oss-20b · Qwen3 · BGE-M3       │</a:t>
            </a:r>
          </a:p>
          <a:p>
            <a:pPr>
              <a:spcAft>
                <a:spcPts val="200"/>
              </a:spcAft>
              <a:defRPr sz="1200">
                <a:latin typeface="Courier New"/>
              </a:defRPr>
            </a:pPr>
            <a:r>
              <a:t>└─────────────────────────────────────┘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LLM Model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t>• GPT-oss-20b</a:t>
            </a:r>
          </a:p>
          <a:p>
            <a:pPr lvl="1">
              <a:spcAft>
                <a:spcPts val="200"/>
              </a:spcAft>
              <a:defRPr sz="1400"/>
            </a:pPr>
            <a:r>
              <a:t>  21B MoE (3.6B active), 128K context, Apache 2.0, L40 GPU</a:t>
            </a:r>
          </a:p>
          <a:p>
            <a:pPr lvl="1">
              <a:spcAft>
                <a:spcPts val="1600"/>
              </a:spcAft>
              <a:defRPr sz="1400"/>
            </a:pPr>
            <a:r>
              <a:t>  Use: Document parsing, reasoning</a:t>
            </a:r>
          </a:p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t>• BGE-M3</a:t>
            </a:r>
          </a:p>
          <a:p>
            <a:pPr lvl="1">
              <a:spcAft>
                <a:spcPts val="200"/>
              </a:spcAft>
              <a:defRPr sz="1400"/>
            </a:pPr>
            <a:r>
              <a:t>  568M params, 1024-dim embeddings, Multilingual EN/HE, CPU</a:t>
            </a:r>
          </a:p>
          <a:p>
            <a:pPr lvl="1">
              <a:spcAft>
                <a:spcPts val="1600"/>
              </a:spcAft>
              <a:defRPr sz="1400"/>
            </a:pPr>
            <a:r>
              <a:t>  Use: Semantic search, RAG</a:t>
            </a:r>
          </a:p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t>• Qwen3-4B-Instruct</a:t>
            </a:r>
          </a:p>
          <a:p>
            <a:pPr lvl="1">
              <a:spcAft>
                <a:spcPts val="200"/>
              </a:spcAft>
              <a:defRPr sz="1400"/>
            </a:pPr>
            <a:r>
              <a:t>  4B params, 131K context, Red Hat certified, L40 GPU</a:t>
            </a:r>
          </a:p>
          <a:p>
            <a:pPr lvl="1">
              <a:spcAft>
                <a:spcPts val="1600"/>
              </a:spcAft>
              <a:defRPr sz="1400"/>
            </a:pPr>
            <a:r>
              <a:t>  Use: Backup general tasks</a:t>
            </a:r>
          </a:p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t>• GPT-4o</a:t>
            </a:r>
          </a:p>
          <a:p>
            <a:pPr lvl="1">
              <a:spcAft>
                <a:spcPts val="200"/>
              </a:spcAft>
              <a:defRPr sz="1400"/>
            </a:pPr>
            <a:r>
              <a:t>  OpenAI via MaaS proxy, Premium tier</a:t>
            </a:r>
          </a:p>
          <a:p>
            <a:pPr lvl="1">
              <a:spcAft>
                <a:spcPts val="1600"/>
              </a:spcAft>
              <a:defRPr sz="1400"/>
            </a:pPr>
            <a:r>
              <a:t>  Use: Complex tasks,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RAG with Vector Embeddings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/>
            </a:pPr>
            <a:r>
              <a:t>Hebrew ISO9001 Document Upload</a:t>
            </a:r>
          </a:p>
          <a:p>
            <a:pPr>
              <a:spcAft>
                <a:spcPts val="600"/>
              </a:spcAft>
              <a:defRPr sz="1400"/>
            </a:pPr>
            <a:r>
              <a:t>1. LLM Extraction (GPT-oss-20b, 128K context) → 94 clauses ✓</a:t>
            </a:r>
          </a:p>
          <a:p>
            <a:pPr>
              <a:spcAft>
                <a:spcPts val="600"/>
              </a:spcAft>
              <a:defRPr sz="1400"/>
            </a:pPr>
            <a:r>
              <a:t>2. Chunking (1000 chars, 100 overlap) → 123 chunks</a:t>
            </a:r>
          </a:p>
          <a:p>
            <a:pPr>
              <a:spcAft>
                <a:spcPts val="600"/>
              </a:spcAft>
              <a:defRPr sz="1400"/>
            </a:pPr>
            <a:r>
              <a:t>3. BGE-M3 Embedding (batch: 32) → 1024-dim vectors</a:t>
            </a:r>
          </a:p>
          <a:p>
            <a:pPr>
              <a:spcAft>
                <a:spcPts val="600"/>
              </a:spcAft>
              <a:defRPr sz="1400"/>
            </a:pPr>
            <a:r>
              <a:t>4. PostgreSQL + pgvector storage</a:t>
            </a:r>
          </a:p>
          <a:p>
            <a:pPr>
              <a:spcAft>
                <a:spcPts val="600"/>
              </a:spcAft>
              <a:defRPr sz="1400"/>
            </a:pPr>
            <a:r>
              <a:t>5. IVFFlat index (cosine similarity, 100 lists)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/>
            </a:pPr>
            <a:r>
              <a:t>Query: 'quality management requirements'</a:t>
            </a:r>
          </a:p>
          <a:p>
            <a:pPr>
              <a:spcAft>
                <a:spcPts val="600"/>
              </a:spcAft>
              <a:defRPr sz="1400"/>
            </a:pPr>
            <a:r>
              <a:t>  → BGE-M3 embedding (1024-dim)</a:t>
            </a:r>
          </a:p>
          <a:p>
            <a:pPr>
              <a:spcAft>
                <a:spcPts val="600"/>
              </a:spcAft>
              <a:defRPr sz="1400"/>
            </a:pPr>
            <a:r>
              <a:t>  → Cosine similarity search</a:t>
            </a:r>
          </a:p>
          <a:p>
            <a:pPr>
              <a:spcAft>
                <a:spcPts val="600"/>
              </a:spcAft>
              <a:defRPr sz="1400"/>
            </a:pPr>
            <a:r>
              <a:t>  → Top-K relevant clauses (&lt;100ms)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 b="1"/>
            </a:pPr>
            <a:r>
              <a:t>Before RAG: 21 clauses (regex) ❌</a:t>
            </a:r>
          </a:p>
          <a:p>
            <a:pPr>
              <a:spcAft>
                <a:spcPts val="600"/>
              </a:spcAft>
              <a:defRPr sz="1400" b="1"/>
            </a:pPr>
            <a:r>
              <a:t>After RAG: 94 clauses (LLM) 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Enterprise Security - Defense in 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1: Network &amp; Access</a:t>
            </a:r>
          </a:p>
          <a:p>
            <a:pPr lvl="1">
              <a:spcAft>
                <a:spcPts val="1600"/>
              </a:spcAft>
              <a:defRPr sz="1400"/>
            </a:pPr>
            <a:r>
              <a:t>  OpenShift Routes (TLS), Google OAuth, JWT tokens</a:t>
            </a:r>
          </a:p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2: MaaS AuthN/AuthZ</a:t>
            </a:r>
          </a:p>
          <a:p>
            <a:pPr lvl="1">
              <a:spcAft>
                <a:spcPts val="1600"/>
              </a:spcAft>
              <a:defRPr sz="1400"/>
            </a:pPr>
            <a:r>
              <a:t>  Kuadrant rate limiting, Authorino JWT validation, K8s RBAC</a:t>
            </a:r>
          </a:p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3: Content Guardrails</a:t>
            </a:r>
          </a:p>
          <a:p>
            <a:pPr lvl="1">
              <a:spcAft>
                <a:spcPts val="1600"/>
              </a:spcAft>
              <a:defRPr sz="1400"/>
            </a:pPr>
            <a:r>
              <a:t>  TrustyAI HAP detection, topic filtering, prompt validation</a:t>
            </a:r>
          </a:p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4: Data Protection</a:t>
            </a:r>
          </a:p>
          <a:p>
            <a:pPr lvl="1">
              <a:spcAft>
                <a:spcPts val="1600"/>
              </a:spcAft>
              <a:defRPr sz="1400"/>
            </a:pPr>
            <a:r>
              <a:t>  PostgreSQL row-level security, K8s Secrets, audit logging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Model as a Service (MaaS) Gateway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E0000"/>
                </a:solidFill>
              </a:defRPr>
            </a:pPr>
            <a:r>
              <a:t>Benefits:</a:t>
            </a:r>
          </a:p>
          <a:p>
            <a:pPr>
              <a:spcAft>
                <a:spcPts val="800"/>
              </a:spcAft>
              <a:defRPr sz="1600"/>
            </a:pPr>
            <a:r>
              <a:t>✓ Unified OpenAI-compatible /v1 API</a:t>
            </a:r>
          </a:p>
          <a:p>
            <a:pPr>
              <a:spcAft>
                <a:spcPts val="800"/>
              </a:spcAft>
              <a:defRPr sz="1600"/>
            </a:pPr>
            <a:r>
              <a:t>✓ Multi-tenancy with per-user rate limiting</a:t>
            </a:r>
          </a:p>
          <a:p>
            <a:pPr>
              <a:spcAft>
                <a:spcPts val="800"/>
              </a:spcAft>
              <a:defRPr sz="1600"/>
            </a:pPr>
            <a:r>
              <a:t>✓ Full observability (TrustyAI logs all requests)</a:t>
            </a:r>
          </a:p>
          <a:p>
            <a:pPr>
              <a:spcAft>
                <a:spcPts val="800"/>
              </a:spcAft>
              <a:defRPr sz="1600"/>
            </a:pPr>
            <a:r>
              <a:t>✓ Security: JWT validation + RBAC enforcement</a:t>
            </a:r>
          </a:p>
          <a:p>
            <a:pPr>
              <a:spcAft>
                <a:spcPts val="800"/>
              </a:spcAft>
              <a:defRPr sz="1600"/>
            </a:pPr>
            <a:r>
              <a:t>✓ Flexibility: Route to on-prem or cloud models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  <a:defRPr sz="2000" b="1">
                <a:solidFill>
                  <a:srgbClr val="EE0000"/>
                </a:solidFill>
              </a:defRPr>
            </a:pPr>
            <a:r>
              <a:t>Components:</a:t>
            </a:r>
          </a:p>
          <a:p>
            <a:pPr>
              <a:defRPr sz="1400"/>
            </a:pPr>
            <a:r>
              <a:t>Kuadrant (API mgmt) → Authorino (auth) → TrustyAI (observability) → vLLM (inference)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Observability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EE0000"/>
                </a:solidFill>
              </a:defRPr>
            </a:pPr>
            <a:r>
              <a:t>Grafana Dashboard: LLM Observability</a:t>
            </a:r>
          </a:p>
          <a:p>
            <a:pPr>
              <a:spcAft>
                <a:spcPts val="600"/>
              </a:spcAft>
              <a:defRPr sz="1400"/>
            </a:pPr>
            <a:r>
              <a:t>Request Rate: GPT-oss-20b (2.3 req/s), BGE-M3 (15.7 req/s)</a:t>
            </a:r>
          </a:p>
          <a:p>
            <a:pPr>
              <a:spcAft>
                <a:spcPts val="600"/>
              </a:spcAft>
              <a:defRPr sz="1400"/>
            </a:pPr>
            <a:r>
              <a:t>Latency: P95 2.3s (GPT-oss-20b), P95 45ms (BGE-M3)</a:t>
            </a:r>
          </a:p>
          <a:p>
            <a:pPr>
              <a:spcAft>
                <a:spcPts val="600"/>
              </a:spcAft>
              <a:defRPr sz="1400"/>
            </a:pPr>
            <a:r>
              <a:t>GPU Utilization: Cache 87%, Memory 42GB/48GB</a:t>
            </a:r>
          </a:p>
          <a:p>
            <a:pPr>
              <a:spcAft>
                <a:spcPts val="600"/>
              </a:spcAft>
              <a:defRPr sz="1400"/>
            </a:pPr>
            <a:r>
              <a:t>Model Health: All models ✓ UP</a:t>
            </a:r>
          </a:p>
          <a:p>
            <a:pPr>
              <a:spcAft>
                <a:spcPts val="600"/>
              </a:spcAft>
              <a:defRPr sz="1400"/>
            </a:pPr>
          </a:p>
          <a:p>
            <a:pPr>
              <a:spcAft>
                <a:spcPts val="600"/>
              </a:spcAft>
              <a:defRPr sz="1400" b="1"/>
            </a:pPr>
            <a:r>
              <a:t>Components:</a:t>
            </a:r>
          </a:p>
          <a:p>
            <a:pPr>
              <a:spcAft>
                <a:spcPts val="600"/>
              </a:spcAft>
              <a:defRPr sz="1400"/>
            </a:pPr>
            <a:r>
              <a:t>• Prometheus: vLLM metrics, KServe metrics</a:t>
            </a:r>
          </a:p>
          <a:p>
            <a:pPr>
              <a:spcAft>
                <a:spcPts val="600"/>
              </a:spcAft>
              <a:defRPr sz="1400"/>
            </a:pPr>
            <a:r>
              <a:t>• Grafana: Custom LLM dashboard</a:t>
            </a:r>
          </a:p>
          <a:p>
            <a:pPr>
              <a:spcAft>
                <a:spcPts val="600"/>
              </a:spcAft>
              <a:defRPr sz="1400"/>
            </a:pPr>
            <a:r>
              <a:t>• TrustyAI: Request/response logging</a:t>
            </a:r>
          </a:p>
          <a:p>
            <a:pPr>
              <a:spcAft>
                <a:spcPts val="600"/>
              </a:spcAft>
              <a:defRPr sz="1400"/>
            </a:pPr>
            <a:r>
              <a:t>• ServiceMonitors: All LLM endpoints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GitOps 4-Layer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01: platform-infra</a:t>
            </a:r>
          </a:p>
          <a:p>
            <a:pPr lvl="1">
              <a:spcAft>
                <a:spcPts val="1200"/>
              </a:spcAft>
              <a:defRPr sz="1400"/>
            </a:pPr>
            <a:r>
              <a:t>  Namespaces, RBAC, RHOAI config</a:t>
            </a:r>
          </a:p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02: app-infra</a:t>
            </a:r>
          </a:p>
          <a:p>
            <a:pPr lvl="1">
              <a:spcAft>
                <a:spcPts val="1200"/>
              </a:spcAft>
              <a:defRPr sz="1400"/>
            </a:pPr>
            <a:r>
              <a:t>  PostgreSQL, Redis, pgvector migration</a:t>
            </a:r>
          </a:p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03: application</a:t>
            </a:r>
          </a:p>
          <a:p>
            <a:pPr lvl="1">
              <a:spcAft>
                <a:spcPts val="1200"/>
              </a:spcAft>
              <a:defRPr sz="1400"/>
            </a:pPr>
            <a:r>
              <a:t>  iso-api, iso-web, doc-agents, playground</a:t>
            </a:r>
          </a:p>
          <a:p>
            <a:pPr>
              <a:spcAft>
                <a:spcPts val="400"/>
              </a:spcAft>
              <a:defRPr sz="1800" b="1">
                <a:solidFill>
                  <a:srgbClr val="EE0000"/>
                </a:solidFill>
              </a:defRPr>
            </a:pPr>
            <a:r>
              <a:t>Layer 04: rag-population</a:t>
            </a:r>
          </a:p>
          <a:p>
            <a:pPr lvl="1">
              <a:spcAft>
                <a:spcPts val="1200"/>
              </a:spcAft>
              <a:defRPr sz="1400"/>
            </a:pPr>
            <a:r>
              <a:t>  Git clone + LFS + BGE-M3 embedding generation</a:t>
            </a:r>
          </a:p>
          <a:p>
            <a:pPr>
              <a:spcAft>
                <a:spcPts val="800"/>
              </a:spcAft>
            </a:pPr>
          </a:p>
          <a:p>
            <a:pPr>
              <a:defRPr sz="1400" b="1"/>
            </a:pPr>
            <a:r>
              <a:t>Benefits: Declarative · Auditable · Auto-sync · Rollback-capable · Sync waves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E0000"/>
                </a:solidFill>
              </a:defRPr>
            </a:pPr>
            <a:r>
              <a:t>Results &amp; Achievements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E0000"/>
                </a:solidFill>
              </a:defRPr>
            </a:pPr>
            <a:r>
              <a:t>Technical Achievements:</a:t>
            </a:r>
          </a:p>
          <a:p>
            <a:pPr>
              <a:spcAft>
                <a:spcPts val="600"/>
              </a:spcAft>
              <a:defRPr sz="1500"/>
            </a:pPr>
            <a:r>
              <a:t>✓ 100% clause extraction (94/94 vs 21/94 with regex)</a:t>
            </a:r>
          </a:p>
          <a:p>
            <a:pPr>
              <a:spcAft>
                <a:spcPts val="600"/>
              </a:spcAft>
              <a:defRPr sz="1500"/>
            </a:pPr>
            <a:r>
              <a:t>✓ Semantic search &lt;100ms query time</a:t>
            </a:r>
          </a:p>
          <a:p>
            <a:pPr>
              <a:spcAft>
                <a:spcPts val="600"/>
              </a:spcAft>
              <a:defRPr sz="1500"/>
            </a:pPr>
            <a:r>
              <a:t>✓ Multilingual RAG (EN/HE) with 1024-dim embeddings</a:t>
            </a:r>
          </a:p>
          <a:p>
            <a:pPr>
              <a:spcAft>
                <a:spcPts val="600"/>
              </a:spcAft>
              <a:defRPr sz="1500"/>
            </a:pPr>
            <a:r>
              <a:t>✓ Full observability: Grafana + Prometheus + TrustyAI</a:t>
            </a:r>
          </a:p>
          <a:p>
            <a:pPr>
              <a:spcAft>
                <a:spcPts val="600"/>
              </a:spcAft>
              <a:defRPr sz="1500"/>
            </a:pPr>
            <a:r>
              <a:t>✓ Enterprise security: OAuth + MaaS + Guardrails</a:t>
            </a:r>
          </a:p>
          <a:p>
            <a:pPr>
              <a:spcAft>
                <a:spcPts val="600"/>
              </a:spcAft>
              <a:defRPr sz="1500"/>
            </a:pPr>
            <a:r>
              <a:t>✓ 100% GitOps automation (4 layers, auto-sync)</a:t>
            </a:r>
          </a:p>
          <a:p>
            <a:pPr>
              <a:spcAft>
                <a:spcPts val="1200"/>
              </a:spcAft>
            </a:pPr>
          </a:p>
          <a:p>
            <a:pPr>
              <a:spcAft>
                <a:spcPts val="800"/>
              </a:spcAft>
              <a:defRPr sz="2000" b="1">
                <a:solidFill>
                  <a:srgbClr val="EE0000"/>
                </a:solidFill>
              </a:defRPr>
            </a:pPr>
            <a:r>
              <a:t>Business Impact:</a:t>
            </a:r>
          </a:p>
          <a:p>
            <a:pPr>
              <a:defRPr sz="1500"/>
            </a:pPr>
            <a:r>
              <a:t>70% faster clause mapping · Real-time semantic search · Enterprise-grade AI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