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01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000000"/>
                </a:solidFill>
              </a:defRPr>
            </a:pPr>
            <a:r>
              <a:t>Enterprise-Grade AI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601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5C5C5C"/>
                </a:solidFill>
              </a:defRPr>
            </a:pPr>
            <a:r>
              <a:t>Red Hat OpenShift AI 3.5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5C5C5C"/>
                </a:solidFill>
              </a:defRPr>
            </a:pPr>
            <a:r>
              <a:t>Model as a Service  ·  TrustyAI Guardrails  ·  Vector RAG  ·  GitOps  ·  Enterprise Security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Red Hat OpenShift AI Platform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286000"/>
            <a:ext cx="3200400" cy="365760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Model Serving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383280"/>
            <a:ext cx="2651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KServe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vLLM Runtime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LLMInferenceService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Auto-scaling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2286000"/>
            <a:ext cx="3200400" cy="3657600"/>
          </a:xfrm>
          <a:prstGeom prst="roundRect">
            <a:avLst/>
          </a:prstGeom>
          <a:solidFill>
            <a:srgbClr val="7030A0"/>
          </a:solidFill>
          <a:ln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256032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AI Governance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3383280"/>
            <a:ext cx="2651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TrustyAI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Guardrails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Bias Detection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Audit Logs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286000"/>
            <a:ext cx="3200400" cy="3657600"/>
          </a:xfrm>
          <a:prstGeom prst="roundRect">
            <a:avLst/>
          </a:prstGeom>
          <a:solidFill>
            <a:srgbClr val="92D050"/>
          </a:solidFill>
          <a:ln>
            <a:solidFill>
              <a:srgbClr val="92D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256032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Developer Tools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3383280"/>
            <a:ext cx="2651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Jupyter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Pipelines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Model Registry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GitOps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RHOAI 3.5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82880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1920240"/>
            <a:ext cx="27432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Application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920240"/>
            <a:ext cx="5486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iso-web  ·  iso-api  ·  AI Playground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2743200"/>
            <a:ext cx="9144000" cy="1097280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2834640"/>
            <a:ext cx="27432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Model as a Service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834640"/>
            <a:ext cx="54864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GPT-oss-20b (21B MoE)  ·  BGE-M3 Embeddings  ·  Qwen3-4B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4114800"/>
            <a:ext cx="9144000" cy="731520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4480" y="4206240"/>
            <a:ext cx="27432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Inference &amp; Serving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4206240"/>
            <a:ext cx="5486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KServe  ·  vLLM  ·  LLMInferenceService CRDs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5029200"/>
            <a:ext cx="9144000" cy="731520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54480" y="5120640"/>
            <a:ext cx="27432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AI Governance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5120640"/>
            <a:ext cx="5486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TrustyAI  ·  Guardrails Orchestrator  ·  Kuadrant + Authorino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5943600"/>
            <a:ext cx="9144000" cy="731520"/>
          </a:xfrm>
          <a:prstGeom prst="rect">
            <a:avLst/>
          </a:prstGeom>
          <a:solidFill>
            <a:srgbClr val="5C5C5C"/>
          </a:solidFill>
          <a:ln>
            <a:solidFill>
              <a:srgbClr val="5C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54480" y="6035040"/>
            <a:ext cx="27432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Platform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6035040"/>
            <a:ext cx="5486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OpenShift 4.x  ·  Operators  ·  GPU Nodes (NVIDIA L40)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Infrastructure &amp; Resource Management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5029200" cy="4114800"/>
          </a:xfrm>
          <a:prstGeom prst="roundRect">
            <a:avLst/>
          </a:prstGeom>
          <a:solidFill>
            <a:srgbClr val="E6F0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0116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66CC"/>
                </a:solidFill>
              </a:defRPr>
            </a:pPr>
            <a:r>
              <a:t>OpenShift Container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✓ Namespace Isolation (iso-platform, llm, grafana)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✓ RBAC &amp; ServiceAccounts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✓ Routes (TLS edge termination)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✓ GPU Node Scheduling (L40 48GB VRAM)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✓ StatefulSets (PostgreSQL + pgvector)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✓ ConfigMaps &amp; Secrets Management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28800"/>
            <a:ext cx="5029200" cy="4114800"/>
          </a:xfrm>
          <a:prstGeom prst="roundRect">
            <a:avLst/>
          </a:prstGeom>
          <a:solidFill>
            <a:srgbClr val="FFF0F0"/>
          </a:solidFill>
          <a:ln w="25400"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20116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EE0000"/>
                </a:solidFill>
              </a:defRPr>
            </a:pPr>
            <a:r>
              <a:t>Red Hat OpenShift AI Operator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74320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✓ Model Serving (KServe, vLLM)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✓ MaaS Gateway (Kuadrant API mgmt)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✓ TrustyAI Service (Observability)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✓ Ray Operator (Distributed ML)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✓ MLflow (Experiment Tracking)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✓ Data Science Pipelines (Tekton)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Model as a Service (MaaS) Gateway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0" y="1828800"/>
            <a:ext cx="3657600" cy="73152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0" y="1828800"/>
            <a:ext cx="36576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Application</a:t>
            </a:r>
          </a:p>
          <a:p>
            <a:r>
              <a:t>(iso-api, playground)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0.0" y="2560320"/>
            <a:ext cx="0.0" cy="365760"/>
          </a:xfrm>
          <a:prstGeom prst="line">
            <a:avLst/>
          </a:prstGeom>
          <a:ln w="38100">
            <a:solidFill>
              <a:srgbClr val="5C5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114800" y="2926080"/>
            <a:ext cx="3657600" cy="731520"/>
          </a:xfrm>
          <a:prstGeom prst="round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0" y="2926080"/>
            <a:ext cx="36576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MaaS Gateway</a:t>
            </a:r>
          </a:p>
          <a:p>
            <a:r>
              <a:t>(Kuadrant + Authorino)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0.0" y="3657600"/>
            <a:ext cx="0.0" cy="365760"/>
          </a:xfrm>
          <a:prstGeom prst="line">
            <a:avLst/>
          </a:prstGeom>
          <a:ln w="38100">
            <a:solidFill>
              <a:srgbClr val="5C5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114800" y="4023360"/>
            <a:ext cx="3657600" cy="731520"/>
          </a:xfrm>
          <a:prstGeom prst="round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0" y="4023360"/>
            <a:ext cx="36576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TrustyAI</a:t>
            </a:r>
          </a:p>
          <a:p>
            <a:r>
              <a:t>(Observability &amp; Guardrails)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0.0" y="4754880"/>
            <a:ext cx="0.0" cy="365760"/>
          </a:xfrm>
          <a:prstGeom prst="line">
            <a:avLst/>
          </a:prstGeom>
          <a:ln w="38100">
            <a:solidFill>
              <a:srgbClr val="5C5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114800" y="5120640"/>
            <a:ext cx="3657600" cy="731520"/>
          </a:xfrm>
          <a:prstGeom prst="round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0" y="5120640"/>
            <a:ext cx="36576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Model Inference</a:t>
            </a:r>
          </a:p>
          <a:p>
            <a:r>
              <a:t>(vLLM on GPU)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182880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EE0000"/>
                </a:solidFill>
              </a:defRPr>
            </a:pPr>
            <a:r>
              <a:t>MaaS Benefits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✓ OpenAI-compatible API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✓ Multi-tenancy &amp; quotas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✓ JWT authentication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✓ Rate limiting per tier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✓ Request/response logging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✓ Bias detection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✓ Content guardrails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Enterprise Security &amp; Compliance</a:t>
            </a:r>
          </a:p>
        </p:txBody>
      </p:sp>
      <p:sp>
        <p:nvSpPr>
          <p:cNvPr id="4" name="Oval 3"/>
          <p:cNvSpPr/>
          <p:nvPr/>
        </p:nvSpPr>
        <p:spPr>
          <a:xfrm>
            <a:off x="4718304" y="2514600"/>
            <a:ext cx="2743200" cy="2743200"/>
          </a:xfrm>
          <a:prstGeom prst="ellipse">
            <a:avLst/>
          </a:prstGeom>
          <a:solidFill>
            <a:srgbClr val="3264C8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803904" y="1600200"/>
            <a:ext cx="4572000" cy="4572000"/>
          </a:xfrm>
          <a:prstGeom prst="ellipse">
            <a:avLst/>
          </a:prstGeom>
          <a:solidFill>
            <a:srgbClr val="648C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889504" y="685800"/>
            <a:ext cx="6400800" cy="6400800"/>
          </a:xfrm>
          <a:prstGeom prst="ellipse">
            <a:avLst/>
          </a:prstGeom>
          <a:solidFill>
            <a:srgbClr val="96B4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975104" y="-228600"/>
            <a:ext cx="8229600" cy="8229600"/>
          </a:xfrm>
          <a:prstGeom prst="ellipse">
            <a:avLst/>
          </a:prstGeom>
          <a:solidFill>
            <a:srgbClr val="C8DC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18304" y="3429000"/>
            <a:ext cx="27432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Data Protection</a:t>
            </a:r>
          </a:p>
          <a:p>
            <a:r>
              <a:t>Row-level Security · Audit Logs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Observability &amp; Monitoring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286000"/>
            <a:ext cx="3200400" cy="3200400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468880"/>
            <a:ext cx="2834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Prometheus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01752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vLLM request rate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P95/P99 latency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GPU utilization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Cache hit rate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Queue depth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2286000"/>
            <a:ext cx="3200400" cy="3200400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2468880"/>
            <a:ext cx="2834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Grafana Dashboards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301752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LLM Observability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Model health status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Request tracing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Resource usage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SLO tracking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2286000"/>
            <a:ext cx="3200400" cy="3200400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2468880"/>
            <a:ext cx="2834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TrustyAI Audit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301752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Request logging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Bias detection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Drift analysis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Fairness metrics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Compliance reports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GitOps-Driven Deployment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286000"/>
            <a:ext cx="1371600" cy="82296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3716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Wave</a:t>
            </a:r>
          </a:p>
          <a:p>
            <a:r>
              <a:t>0-10</a:t>
            </a:r>
          </a:p>
        </p:txBody>
      </p:sp>
      <p:sp>
        <p:nvSpPr>
          <p:cNvPr id="6" name="Rectangle 5"/>
          <p:cNvSpPr/>
          <p:nvPr/>
        </p:nvSpPr>
        <p:spPr>
          <a:xfrm>
            <a:off x="2468880" y="2286000"/>
            <a:ext cx="3200400" cy="822960"/>
          </a:xfrm>
          <a:prstGeom prst="rect">
            <a:avLst/>
          </a:prstGeom>
          <a:solidFill>
            <a:srgbClr val="F5F5F5"/>
          </a:solidFill>
          <a:ln>
            <a:solidFill>
              <a:srgbClr val="5C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51760" y="2286000"/>
            <a:ext cx="283464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t>Platform Infrastructure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2286000"/>
            <a:ext cx="50292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400">
                <a:solidFill>
                  <a:srgbClr val="5C5C5C"/>
                </a:solidFill>
              </a:defRPr>
            </a:pPr>
            <a:r>
              <a:t>Namespaces · RBAC · Operators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246120"/>
            <a:ext cx="1371600" cy="822960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46120"/>
            <a:ext cx="13716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Wave</a:t>
            </a:r>
          </a:p>
          <a:p>
            <a:r>
              <a:t>10-20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8880" y="3246120"/>
            <a:ext cx="3200400" cy="822960"/>
          </a:xfrm>
          <a:prstGeom prst="rect">
            <a:avLst/>
          </a:prstGeom>
          <a:solidFill>
            <a:srgbClr val="F5F5F5"/>
          </a:solidFill>
          <a:ln>
            <a:solidFill>
              <a:srgbClr val="5C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51760" y="3246120"/>
            <a:ext cx="283464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t>Application Infrastructure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246120"/>
            <a:ext cx="50292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400">
                <a:solidFill>
                  <a:srgbClr val="5C5C5C"/>
                </a:solidFill>
              </a:defRPr>
            </a:pPr>
            <a:r>
              <a:t>PostgreSQL · Redis · Secrets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4206240"/>
            <a:ext cx="1371600" cy="822960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206240"/>
            <a:ext cx="13716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Wave</a:t>
            </a:r>
          </a:p>
          <a:p>
            <a:r>
              <a:t>20-30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68880" y="4206240"/>
            <a:ext cx="3200400" cy="822960"/>
          </a:xfrm>
          <a:prstGeom prst="rect">
            <a:avLst/>
          </a:prstGeom>
          <a:solidFill>
            <a:srgbClr val="F5F5F5"/>
          </a:solidFill>
          <a:ln>
            <a:solidFill>
              <a:srgbClr val="5C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51760" y="4206240"/>
            <a:ext cx="283464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t>Application Services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4206240"/>
            <a:ext cx="50292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400">
                <a:solidFill>
                  <a:srgbClr val="5C5C5C"/>
                </a:solidFill>
              </a:defRPr>
            </a:pPr>
            <a:r>
              <a:t>iso-api · iso-web · Playground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5166360"/>
            <a:ext cx="1371600" cy="822960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166360"/>
            <a:ext cx="13716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Wave</a:t>
            </a:r>
          </a:p>
          <a:p>
            <a:r>
              <a:t>40+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68880" y="5166360"/>
            <a:ext cx="3200400" cy="822960"/>
          </a:xfrm>
          <a:prstGeom prst="rect">
            <a:avLst/>
          </a:prstGeom>
          <a:solidFill>
            <a:srgbClr val="F5F5F5"/>
          </a:solidFill>
          <a:ln>
            <a:solidFill>
              <a:srgbClr val="5C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51760" y="5166360"/>
            <a:ext cx="283464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t>Data Population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5166360"/>
            <a:ext cx="50292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400">
                <a:solidFill>
                  <a:srgbClr val="5C5C5C"/>
                </a:solidFill>
              </a:defRPr>
            </a:pPr>
            <a:r>
              <a:t>RAG ingestion · Embeddings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066CC"/>
                </a:solidFill>
              </a:defRPr>
            </a:pPr>
            <a:r>
              <a:t>OpenShift GitOps (ArgoCD) · Declarative · Auditable · Auto-sync · Rollback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AI Application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5486400"/>
            <a:ext cx="6858000" cy="731520"/>
          </a:xfrm>
          <a:prstGeom prst="rect">
            <a:avLst/>
          </a:prstGeom>
          <a:solidFill>
            <a:srgbClr val="C85050"/>
          </a:solidFill>
          <a:ln>
            <a:solidFill>
              <a:srgbClr val="5C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0" y="5486400"/>
            <a:ext cx="68580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React SPA · AI Playground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4754880"/>
            <a:ext cx="6858000" cy="731520"/>
          </a:xfrm>
          <a:prstGeom prst="rect">
            <a:avLst/>
          </a:prstGeom>
          <a:solidFill>
            <a:srgbClr val="50A064"/>
          </a:solidFill>
          <a:ln>
            <a:solidFill>
              <a:srgbClr val="5C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4754880"/>
            <a:ext cx="68580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FastAPI Orchestrator · Document Services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4023360"/>
            <a:ext cx="6858000" cy="731520"/>
          </a:xfrm>
          <a:prstGeom prst="rect">
            <a:avLst/>
          </a:prstGeom>
          <a:solidFill>
            <a:srgbClr val="A050C8"/>
          </a:solidFill>
          <a:ln>
            <a:solidFill>
              <a:srgbClr val="5C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4023360"/>
            <a:ext cx="68580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LLM Models (GPT-oss-20b · BGE-M3 · Qwen3)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3291840"/>
            <a:ext cx="6858000" cy="731520"/>
          </a:xfrm>
          <a:prstGeom prst="rect">
            <a:avLst/>
          </a:prstGeom>
          <a:solidFill>
            <a:srgbClr val="3C78B4"/>
          </a:solidFill>
          <a:ln>
            <a:solidFill>
              <a:srgbClr val="5C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3291840"/>
            <a:ext cx="68580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PostgreSQL 16 + pgvector · Redis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2560320"/>
            <a:ext cx="6858000" cy="731520"/>
          </a:xfrm>
          <a:prstGeom prst="rect">
            <a:avLst/>
          </a:prstGeom>
          <a:solidFill>
            <a:srgbClr val="646464"/>
          </a:solidFill>
          <a:ln>
            <a:solidFill>
              <a:srgbClr val="5C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0" y="2560320"/>
            <a:ext cx="68580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OpenShift + RHOAI 3.5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Enterprise Value Delivered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286000"/>
            <a:ext cx="5029200" cy="1828800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4688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E0000"/>
                </a:solidFill>
              </a:defRPr>
            </a:pPr>
            <a:r>
              <a:t>Production-Ready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92608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✓ Enterprise security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✓ High availability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✓ Auto-scaling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✓ Disaster recovery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286000"/>
            <a:ext cx="5029200" cy="1828800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24688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E0000"/>
                </a:solidFill>
              </a:defRPr>
            </a:pPr>
            <a:r>
              <a:t>Operational Excellence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92608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✓ Full observability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✓ GitOps automation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✓ Zero downtime updates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✓ Compliance ready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389120"/>
            <a:ext cx="5029200" cy="1828800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45720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E0000"/>
                </a:solidFill>
              </a:defRPr>
            </a:pPr>
            <a:r>
              <a:t>Developer Productivity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502920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✓ OpenAI-compatible API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✓ Multi-model support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✓ Self-service platform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✓ Fast iteration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4389120"/>
            <a:ext cx="5029200" cy="1828800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45720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E0000"/>
                </a:solidFill>
              </a:defRPr>
            </a:pPr>
            <a:r>
              <a:t>Cost Optimization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502920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✓ GPU efficiency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✓ Resource pooling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✓ Usage tracking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✓ On-prem + cloud hybrid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