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</a:defRPr>
            </a:pPr>
            <a:r>
              <a:t>Enterprise-Grade AI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5C5C5C"/>
                </a:solidFill>
              </a:defRPr>
            </a:pPr>
            <a:r>
              <a:t>Red Hat OpenShift AI 3.5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C5C5C"/>
                </a:solidFill>
              </a:defRPr>
            </a:pPr>
            <a:r>
              <a:t>Model as a Service  ·  TrustyAI Guardrails  ·  Vector RAG  ·  GitOps  ·  Enterprise Security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Red Hat OpenShift AI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65760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Model Serving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3832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KServe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vLLM Runtime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LLMInferenceService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Auto-scaling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00400" cy="365760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3832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TrustyAI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Guardrails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Bias Detection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Audit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200400" cy="365760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56032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Developer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383280"/>
            <a:ext cx="2651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Jupyter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Pipelines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Model Registry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GitOps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RHOAI 3.5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00" cy="73152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92024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Application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9202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iso-web  ·  iso-api  ·  AI Playground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834640"/>
            <a:ext cx="2743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Model as a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5486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GPT-oss-20b (21B MoE)  ·  BGE-M3 Embeddings  ·  Qwen3-4B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420624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Inference &amp; Serving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2062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KServe  ·  vLLM  ·  LLMInferenceService CRDs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512064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1206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TrustyAI  ·  Guardrails Orchestrator  ·  Kuadrant + Authorino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5943600"/>
            <a:ext cx="9144000" cy="731520"/>
          </a:xfrm>
          <a:prstGeom prst="rect">
            <a:avLst/>
          </a:prstGeom>
          <a:solidFill>
            <a:srgbClr val="5C5C5C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6035040"/>
            <a:ext cx="27432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Platform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035040"/>
            <a:ext cx="548640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OpenShift 4.x  ·  Operators  ·  GPU Nodes (NVIDIA L40)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Infrastructure &amp; Resource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/>
          </a:prstGeom>
          <a:solidFill>
            <a:srgbClr val="E6F0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OpenShift Container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Namespace Isolation (iso-platform, llm, grafana)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RBAC &amp; ServiceAccounts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Routes (TLS edge termination)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GPU Node Scheduling (L40 48GB VRAM)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StatefulSets (PostgreSQL + pgvector)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ConfigMaps &amp; Secrets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E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E0000"/>
                </a:solidFill>
              </a:defRPr>
            </a:pPr>
            <a:r>
              <a:t>Red Hat OpenShift AI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7432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Model Serving (KServe, vLLM)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MaaS Gateway (Kuadrant API mgmt)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TrustyAI Service (Observability)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Ray Operator (Distributed ML)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MLflow (Experiment Tracking)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✓ Data Science Pipelines (Tekton)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as a Service (MaaS) Gateway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828800"/>
            <a:ext cx="3657600" cy="73152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82880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Application</a:t>
            </a:r>
          </a:p>
          <a:p>
            <a:r>
              <a:t>(iso-api, playground)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.0" y="2560320"/>
            <a:ext cx="0.0" cy="36576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926080"/>
            <a:ext cx="3657600" cy="731520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MaaS Gateway</a:t>
            </a:r>
          </a:p>
          <a:p>
            <a:r>
              <a:t>(Kuadrant + Authorino)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.0" y="3657600"/>
            <a:ext cx="0.0" cy="36576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0" y="4023360"/>
            <a:ext cx="3657600" cy="73152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02336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TrustyAI</a:t>
            </a:r>
          </a:p>
          <a:p>
            <a:r>
              <a:t>(Observability &amp; Guardrails)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0.0" y="4754880"/>
            <a:ext cx="0.0" cy="36576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5120640"/>
            <a:ext cx="3657600" cy="7315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5120640"/>
            <a:ext cx="36576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Model Inference</a:t>
            </a:r>
          </a:p>
          <a:p>
            <a:r>
              <a:t>(vLLM on GPU)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EE0000"/>
                </a:solidFill>
              </a:defRPr>
            </a:pPr>
            <a:r>
              <a:t>MaaS Benefits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OpenAI-compatible API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Multi-tenancy &amp; quotas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JWT authentication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Rate limiting per tier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Request/response logging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Bias detection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✓ Content guardrails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Enterprise Security &amp; Compliance</a:t>
            </a:r>
          </a:p>
        </p:txBody>
      </p:sp>
      <p:sp>
        <p:nvSpPr>
          <p:cNvPr id="4" name="Oval 3"/>
          <p:cNvSpPr/>
          <p:nvPr/>
        </p:nvSpPr>
        <p:spPr>
          <a:xfrm>
            <a:off x="4718304" y="2514600"/>
            <a:ext cx="2743200" cy="2743200"/>
          </a:xfrm>
          <a:prstGeom prst="ellipse">
            <a:avLst/>
          </a:prstGeom>
          <a:solidFill>
            <a:srgbClr val="3264C8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03904" y="1600200"/>
            <a:ext cx="4572000" cy="4572000"/>
          </a:xfrm>
          <a:prstGeom prst="ellipse">
            <a:avLst/>
          </a:prstGeom>
          <a:solidFill>
            <a:srgbClr val="648C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889504" y="685800"/>
            <a:ext cx="6400800" cy="6400800"/>
          </a:xfrm>
          <a:prstGeom prst="ellipse">
            <a:avLst/>
          </a:prstGeom>
          <a:solidFill>
            <a:srgbClr val="96B4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75104" y="-228600"/>
            <a:ext cx="8229600" cy="8229600"/>
          </a:xfrm>
          <a:prstGeom prst="ellipse">
            <a:avLst/>
          </a:prstGeom>
          <a:solidFill>
            <a:srgbClr val="C8DC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8304" y="3429000"/>
            <a:ext cx="27432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 Protection</a:t>
            </a:r>
          </a:p>
          <a:p>
            <a:r>
              <a:t>Row-level Security · Audit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Observability &amp;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Prometheus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vLLM request rate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P95/P99 latency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GPU utilization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Cache hit rate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Queue 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286000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Grafana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LLM Observability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Model health status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Request tracing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Resource usage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SLO tracking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86000"/>
            <a:ext cx="3200400" cy="32004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4688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TrustyAI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Request logging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Bias detection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Drift analysis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Fairness metrics</a:t>
            </a:r>
          </a:p>
          <a:p>
            <a:pPr>
              <a:spcAft>
                <a:spcPts val="600"/>
              </a:spcAft>
              <a:defRPr sz="1400">
                <a:solidFill>
                  <a:srgbClr val="000000"/>
                </a:solidFill>
              </a:defRPr>
            </a:pPr>
            <a:r>
              <a:t>• Compliance reports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GitOps-Driven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371600" cy="82296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0-10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0" y="2286000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28600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Platform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286000"/>
            <a:ext cx="5029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t>Namespaces · RBAC · Operators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246120"/>
            <a:ext cx="1371600" cy="82296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10-20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246120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24612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Application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46120"/>
            <a:ext cx="5029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t>PostgreSQL · Redis · Secrets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206240"/>
            <a:ext cx="1371600" cy="82296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20-30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4206240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420624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Application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06240"/>
            <a:ext cx="5029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t>iso-api · iso-web · Playground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166360"/>
            <a:ext cx="1371600" cy="82296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3716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Wave</a:t>
            </a:r>
          </a:p>
          <a:p>
            <a:r>
              <a:t>40+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68880" y="5166360"/>
            <a:ext cx="3200400" cy="822960"/>
          </a:xfrm>
          <a:prstGeom prst="rect">
            <a:avLst/>
          </a:prstGeom>
          <a:solidFill>
            <a:srgbClr val="F5F5F5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0" y="5166360"/>
            <a:ext cx="283464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Data Population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166360"/>
            <a:ext cx="50292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400">
                <a:solidFill>
                  <a:srgbClr val="5C5C5C"/>
                </a:solidFill>
              </a:defRPr>
            </a:pPr>
            <a:r>
              <a:t>RAG ingestion · 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66CC"/>
                </a:solidFill>
              </a:defRPr>
            </a:pPr>
            <a:r>
              <a:t>OpenShift GitOps (ArgoCD) · Declarative · Auditable · Auto-sync · Rollback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 Application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5486400"/>
            <a:ext cx="6858000" cy="731520"/>
          </a:xfrm>
          <a:prstGeom prst="rect">
            <a:avLst/>
          </a:prstGeom>
          <a:solidFill>
            <a:srgbClr val="C85050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548640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React SPA · AI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754880"/>
            <a:ext cx="6858000" cy="731520"/>
          </a:xfrm>
          <a:prstGeom prst="rect">
            <a:avLst/>
          </a:prstGeom>
          <a:solidFill>
            <a:srgbClr val="50A06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475488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FastAPI Orchestrator · Document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4023360"/>
            <a:ext cx="6858000" cy="731520"/>
          </a:xfrm>
          <a:prstGeom prst="rect">
            <a:avLst/>
          </a:prstGeom>
          <a:solidFill>
            <a:srgbClr val="A050C8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402336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LLM Models (GPT-oss-20b · BGE-M3 · Qwen3)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3291840"/>
            <a:ext cx="6858000" cy="731520"/>
          </a:xfrm>
          <a:prstGeom prst="rect">
            <a:avLst/>
          </a:prstGeom>
          <a:solidFill>
            <a:srgbClr val="3C78B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29184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PostgreSQL 16 + pgvector · Redis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560320"/>
            <a:ext cx="6858000" cy="731520"/>
          </a:xfrm>
          <a:prstGeom prst="rect">
            <a:avLst/>
          </a:prstGeom>
          <a:solidFill>
            <a:srgbClr val="646464"/>
          </a:solidFill>
          <a:ln>
            <a:solidFill>
              <a:srgbClr val="5C5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2560320"/>
            <a:ext cx="68580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OpenShift + RHOAI 3.5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Enterprise Value 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Production-Ready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Enterprise security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High availability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Auto-scaling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Disaster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Operational Excellence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9260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Full observability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GitOps automation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Zero downtime updates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Compliance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8912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Developer Productivity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OpenAI-compatible API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Multi-model support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Self-service platform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Fast iteration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5029200" cy="182880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E0000"/>
                </a:solidFill>
              </a:defRPr>
            </a:pPr>
            <a:r>
              <a:t>Cost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0292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GPU efficiency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Resource pooling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Usage tracking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</a:defRPr>
            </a:pPr>
            <a:r>
              <a:t>✓ On-prem + cloud hybrid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AI-Powered ISO Compliance Management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828800"/>
            <a:ext cx="548640" cy="548640"/>
          </a:xfrm>
          <a:prstGeom prst="ellipse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Upload ISO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5C5C"/>
                </a:solidFill>
              </a:defRPr>
            </a:pPr>
            <a:r>
              <a:t>Upload ISO standard documents</a:t>
            </a:r>
          </a:p>
          <a:p>
            <a:r>
              <a:t>(ISO 9001, 14001, 45001, 13485)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2103120"/>
            <a:ext cx="274320" cy="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029200" y="1828800"/>
            <a:ext cx="548640" cy="54864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Populate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26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5C5C"/>
                </a:solidFill>
              </a:defRPr>
            </a:pPr>
            <a:r>
              <a:t>AI extracts clauses</a:t>
            </a:r>
          </a:p>
          <a:p>
            <a:r>
              <a:t>Generates semantic embeddings</a:t>
            </a:r>
          </a:p>
          <a:p>
            <a:r>
              <a:t>Builds knowledge 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2103120"/>
            <a:ext cx="274320" cy="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686800" y="1828800"/>
            <a:ext cx="548640" cy="54864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828800"/>
            <a:ext cx="5486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Assessment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260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C5C5C"/>
                </a:solidFill>
              </a:defRPr>
            </a:pPr>
            <a:r>
              <a:t>Document audit findings</a:t>
            </a:r>
          </a:p>
          <a:p>
            <a:r>
              <a:t>during organization assessment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114800"/>
            <a:ext cx="6858000" cy="1645920"/>
          </a:xfrm>
          <a:prstGeom prst="round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089904" y="3200400"/>
            <a:ext cx="0" cy="914400"/>
          </a:xfrm>
          <a:prstGeom prst="line">
            <a:avLst/>
          </a:prstGeom>
          <a:ln w="3810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926080" y="42976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✓  AI-Generated Compliance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7548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Automatic finding-to-clause mapping · Gap analysis · Corrective actions</a:t>
            </a:r>
          </a:p>
          <a:p>
            <a:r>
              <a:t>Hebrew/English bilingual · Export to DOCX/Excel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